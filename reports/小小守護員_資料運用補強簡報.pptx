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914400"/>
            <a:ext cx="3840480" cy="384048"/>
          </a:xfrm>
          <a:prstGeom prst="roundRect">
            <a:avLst/>
          </a:prstGeom>
          <a:solidFill>
            <a:srgbClr val="2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>
                <a:solidFill>
                  <a:srgbClr val="CFE0F0"/>
                </a:solidFill>
                <a:latin typeface="Microsoft JhengHei"/>
              </a:rPr>
              <a:t>補強簡報 ｜ 資料應用性 (評分 30%)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</a:rPr>
              <a:t>數據及資料運用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D97A"/>
                </a:solidFill>
                <a:latin typeface="Microsoft JhengHei"/>
              </a:rPr>
              <a:t>靜態一手資料 </a:t>
            </a:r>
            <a:r>
              <a:rPr sz="2200" b="0">
                <a:solidFill>
                  <a:srgbClr val="FFFFFF"/>
                </a:solidFill>
                <a:latin typeface="Microsoft JhengHei"/>
              </a:rPr>
              <a:t>×</a:t>
            </a:r>
            <a:r>
              <a:rPr sz="2200" b="1">
                <a:solidFill>
                  <a:srgbClr val="FFD97A"/>
                </a:solidFill>
                <a:latin typeface="Microsoft JhengHei"/>
              </a:rPr>
              <a:t> 動態官方 API 整合 </a:t>
            </a:r>
            <a:r>
              <a:rPr sz="2200" b="0">
                <a:solidFill>
                  <a:srgbClr val="FFFFFF"/>
                </a:solidFill>
                <a:latin typeface="Microsoft JhengHei"/>
              </a:rPr>
              <a:t>×</a:t>
            </a:r>
            <a:r>
              <a:rPr sz="2200" b="1">
                <a:solidFill>
                  <a:srgbClr val="FFD97A"/>
                </a:solidFill>
                <a:latin typeface="Microsoft JhengHei"/>
              </a:rPr>
              <a:t> 三層備援韌性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148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C7D6E6"/>
                </a:solidFill>
                <a:latin typeface="Microsoft JhengHei"/>
              </a:rPr>
              <a:t>回應題目痛點 1：</a:t>
            </a:r>
            <a:r>
              <a:rPr sz="1500" b="0">
                <a:solidFill>
                  <a:srgbClr val="C7D6E6"/>
                </a:solidFill>
                <a:latin typeface="Microsoft JhengHei"/>
              </a:rPr>
              <a:t>「資料分散、整合困難、缺乏即時整合機制」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A9C0D8"/>
                </a:solidFill>
                <a:latin typeface="Microsoft JhengHei"/>
              </a:rPr>
              <a:t>我們把系統從「靜態一次性資料」升級為「動態串接官方開放資料 + 本地快取 + 離線備援」的整合平台。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52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8AA6"/>
                </a:solidFill>
                <a:latin typeface="Microsoft JhengHei"/>
              </a:rPr>
              <a:t>小小守護員 Smart Watchdog ｜ 2026 新北市 AI 智慧城市黑客松 · 教育局組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DATA LANDSCAPE ｜ 資料全景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F2B"/>
                </a:solidFill>
                <a:latin typeface="Microsoft JhengHei"/>
              </a:rPr>
              <a:t>五大類資料，橫跨財務、監理、公眾三面向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Microsoft JhengHei"/>
              </a:rPr>
              <a:t>題目點名的基本資料、評鑑、裁罰、收費、決算財報，我們全數整合，並補上社群輿情面向。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1960473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965960"/>
            <a:ext cx="1960473" cy="64008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377440"/>
            <a:ext cx="1960473" cy="2286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39112"/>
            <a:ext cx="174101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財務決算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743200"/>
            <a:ext cx="168615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公校決算書 112–114 年度
非營利園財報 110–113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" y="3931920"/>
            <a:ext cx="1667865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4050792"/>
            <a:ext cx="16861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D64545"/>
                </a:solidFill>
                <a:latin typeface="Microsoft JhengHei"/>
              </a:rPr>
              <a:t>用途：</a:t>
            </a:r>
            <a:r>
              <a:rPr sz="950" b="0">
                <a:solidFill>
                  <a:srgbClr val="5B6372"/>
                </a:solidFill>
                <a:latin typeface="Microsoft JhengHei"/>
              </a:rPr>
              <a:t>鑑識會計核心輸入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8881" y="1965960"/>
            <a:ext cx="1960473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38881" y="1965960"/>
            <a:ext cx="1960473" cy="640080"/>
          </a:xfrm>
          <a:prstGeom prst="round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38881" y="2377440"/>
            <a:ext cx="1960473" cy="22860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8609" y="2039112"/>
            <a:ext cx="174101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裁罰紀錄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5185" y="2743200"/>
            <a:ext cx="168615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全國教保資訊網
(含日期/法條/罰鍰/文號)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5185" y="3931920"/>
            <a:ext cx="1667865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5185" y="4050792"/>
            <a:ext cx="16861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07B2B"/>
                </a:solidFill>
                <a:latin typeface="Microsoft JhengHei"/>
              </a:rPr>
              <a:t>用途：</a:t>
            </a:r>
            <a:r>
              <a:rPr sz="950" b="0">
                <a:solidFill>
                  <a:srgbClr val="5B6372"/>
                </a:solidFill>
                <a:latin typeface="Microsoft JhengHei"/>
              </a:rPr>
              <a:t>風險標籤與驗證基準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00522" y="1965960"/>
            <a:ext cx="1960473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00522" y="1965960"/>
            <a:ext cx="1960473" cy="640080"/>
          </a:xfrm>
          <a:prstGeom prst="round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0522" y="2377440"/>
            <a:ext cx="1960473" cy="2286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0250" y="2039112"/>
            <a:ext cx="174101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評鑑結果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6826" y="2743200"/>
            <a:ext cx="168615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幼兒園評鑑等第
優/良/乙/待改進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46826" y="3931920"/>
            <a:ext cx="1667865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46826" y="4050792"/>
            <a:ext cx="16861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0A93B"/>
                </a:solidFill>
                <a:latin typeface="Microsoft JhengHei"/>
              </a:rPr>
              <a:t>用途：</a:t>
            </a:r>
            <a:r>
              <a:rPr sz="950" b="0">
                <a:solidFill>
                  <a:srgbClr val="5B6372"/>
                </a:solidFill>
                <a:latin typeface="Microsoft JhengHei"/>
              </a:rPr>
              <a:t>評鑑分項輸入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2163" y="1965960"/>
            <a:ext cx="1960473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62163" y="1965960"/>
            <a:ext cx="1960473" cy="640080"/>
          </a:xfrm>
          <a:prstGeom prst="round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2163" y="2377440"/>
            <a:ext cx="1960473" cy="2286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1891" y="2039112"/>
            <a:ext cx="174101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基本 / 收費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8467" y="2743200"/>
            <a:ext cx="168615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園名/行政區/地址/座標
核定人數/月收費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8467" y="3931920"/>
            <a:ext cx="1667865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8467" y="4050792"/>
            <a:ext cx="16861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C6E9B"/>
                </a:solidFill>
                <a:latin typeface="Microsoft JhengHei"/>
              </a:rPr>
              <a:t>用途：</a:t>
            </a:r>
            <a:r>
              <a:rPr sz="950" b="0">
                <a:solidFill>
                  <a:srgbClr val="5B6372"/>
                </a:solidFill>
                <a:latin typeface="Microsoft JhengHei"/>
              </a:rPr>
              <a:t>定位 + 交叉勾稽 + 家長端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23804" y="1965960"/>
            <a:ext cx="1960473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23804" y="1965960"/>
            <a:ext cx="1960473" cy="64008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23804" y="2377440"/>
            <a:ext cx="1960473" cy="22860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33532" y="2039112"/>
            <a:ext cx="174101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網路輿情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70108" y="2743200"/>
            <a:ext cx="168615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F2B"/>
                </a:solidFill>
                <a:latin typeface="Microsoft JhengHei"/>
              </a:rPr>
              <a:t>公開新聞 / 社群 / 評論
(五層來源分級)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70108" y="3931920"/>
            <a:ext cx="1667865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70108" y="4050792"/>
            <a:ext cx="16861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F8F5B"/>
                </a:solidFill>
                <a:latin typeface="Microsoft JhengHei"/>
              </a:rPr>
              <a:t>用途：</a:t>
            </a:r>
            <a:r>
              <a:rPr sz="950" b="0">
                <a:solidFill>
                  <a:srgbClr val="5B6372"/>
                </a:solidFill>
                <a:latin typeface="Microsoft JhengHei"/>
              </a:rPr>
              <a:t>微弱訊號早期預警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Microsoft JhengHei"/>
              </a:rPr>
              <a:t>交叉勾稽：</a:t>
            </a:r>
            <a:r>
              <a:rPr sz="1200" b="0">
                <a:solidFill>
                  <a:srgbClr val="5B6372"/>
                </a:solidFill>
                <a:latin typeface="Microsoft JhengHei"/>
              </a:rPr>
              <a:t>財報 × 收費 × 核定人數 → 算「每名幼兒單位成本」；裁罰 × 風險分 → 驗證高風險園是否確實較常被裁罰（AUC 0.906）。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TWO-TRACK ｜ 靜態 × 動態雙軌設計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F2B"/>
                </a:solidFill>
                <a:latin typeface="Microsoft JhengHei"/>
              </a:rPr>
              <a:t>一手精抽 + 官方即時，各司其職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51206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5120640" cy="685800"/>
          </a:xfrm>
          <a:prstGeom prst="round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120640" cy="228600"/>
          </a:xfrm>
          <a:prstGeom prst="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60020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靜態資料 </a:t>
            </a:r>
            <a:r>
              <a:rPr sz="1300" b="1">
                <a:solidFill>
                  <a:srgbClr val="FFD97A"/>
                </a:solidFill>
                <a:latin typeface="Microsoft JhengHei"/>
              </a:rPr>
              <a:t>STATIC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一手官方文件、深度精準抽取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" y="2843784"/>
            <a:ext cx="118872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7889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公校決算書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99816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地方教育發展基金決算書第5冊，PyMuPDF 文字層抽取，含逐筆明細供班佛檢定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9848" y="3776472"/>
            <a:ext cx="118872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721608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非營利園掃描財報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32504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無文字層 → Tesseract 中文 OCR + Bedrock Claude 多模態視覺抽取，自我勾稽把關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" y="4709160"/>
            <a:ext cx="118872" cy="1188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654296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地理座標（衍生）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965192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Nominatim geocoding 產生 lat/lng，供地圖標記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9848" y="5193792"/>
            <a:ext cx="4535424" cy="384048"/>
          </a:xfrm>
          <a:prstGeom prst="round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>
                <a:solidFill>
                  <a:srgbClr val="1A1F2B"/>
                </a:solidFill>
                <a:latin typeface="Microsoft JhengHei"/>
              </a:rPr>
              <a:t>特性：正確性高、可追溯至來源頁，適合精準鑑識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508760"/>
            <a:ext cx="51206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1508760"/>
            <a:ext cx="5120640" cy="68580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965960"/>
            <a:ext cx="5120640" cy="22860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60020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動態資料 </a:t>
            </a:r>
            <a:r>
              <a:rPr sz="1300" b="1">
                <a:solidFill>
                  <a:srgbClr val="FFD97A"/>
                </a:solidFill>
                <a:latin typeface="Microsoft JhengHei"/>
              </a:rPr>
              <a:t>LIVE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官方開放資料即時串接、隨更新重評估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2843784"/>
            <a:ext cx="118872" cy="118872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7889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幼兒園基本資料 / 收費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099816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preschools.json（GeoJSON，含座標），HTTPS GET 免金鑰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6248" y="3776472"/>
            <a:ext cx="118872" cy="118872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721608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全國裁罰紀錄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032504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punish_all.json，含日期/法條/罰鍰/文號，即時解析正規化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56248" y="4709160"/>
            <a:ext cx="118872" cy="118872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654296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連接器 src/live_source.py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965192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load_live_dataset() 一鍵同步；UI「同步最新資料」按鈕觸發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56248" y="5193792"/>
            <a:ext cx="4535424" cy="384048"/>
          </a:xfrm>
          <a:prstGeom prst="round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>
                <a:solidFill>
                  <a:srgbClr val="1A1F2B"/>
                </a:solidFill>
                <a:latin typeface="Microsoft JhengHei"/>
              </a:rPr>
              <a:t>特性：涵蓋廣、時效新，排程每日更新即成即時預警系統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RELIABILITY ｜ 動態連接器與韌性設計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F2B"/>
                </a:solidFill>
                <a:latin typeface="Microsoft JhengHei"/>
              </a:rPr>
              <a:t>政府級韌性：外部源掛了，系統也不倒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Microsoft JhengHei"/>
              </a:rPr>
              <a:t>src/live_source.py 的 </a:t>
            </a:r>
            <a:r>
              <a:rPr sz="1200" b="1">
                <a:solidFill>
                  <a:srgbClr val="1F4E79"/>
                </a:solidFill>
                <a:latin typeface="Microsoft JhengHei"/>
              </a:rPr>
              <a:t>fetch_json()</a:t>
            </a:r>
            <a:r>
              <a:rPr sz="1200" b="0">
                <a:solidFill>
                  <a:srgbClr val="5B6372"/>
                </a:solidFill>
                <a:latin typeface="Microsoft JhengHei"/>
              </a:rPr>
              <a:t> 讀取優先序：即時網路 → 本地快取 → 版控快照，任一層可用即回傳。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20240"/>
            <a:ext cx="2240280" cy="868680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2996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官方開放資料源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Microsoft JhengHei"/>
              </a:rPr>
              <a:t>教育部 / 全國教保資訊網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90672" y="2212848"/>
            <a:ext cx="356616" cy="274320"/>
          </a:xfrm>
          <a:prstGeom prst="rightArrow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40" y="1920240"/>
            <a:ext cx="2240280" cy="868680"/>
          </a:xfrm>
          <a:prstGeom prst="round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02996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HTTPS 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37744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Microsoft JhengHei"/>
              </a:rPr>
              <a:t>urllib · timeout 30s · 免金鑰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33872" y="2212848"/>
            <a:ext cx="356616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920240"/>
            <a:ext cx="2240280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02996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連接器解析正規化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7744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Microsoft JhengHei"/>
              </a:rPr>
              <a:t>parse_preschools / parse_penalties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77072" y="2212848"/>
            <a:ext cx="356616" cy="274320"/>
          </a:xfrm>
          <a:prstGeom prst="rightArrow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840" y="1920240"/>
            <a:ext cx="2240280" cy="86868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02996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風險引擎 +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37744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Microsoft JhengHei"/>
              </a:rPr>
              <a:t>契約檔 → 三入口介面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461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三層備援（Fallback Chain）— FetchResult 誠實回報資料新鮮度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611880"/>
            <a:ext cx="3352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3611880"/>
            <a:ext cx="3352800" cy="54864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931920"/>
            <a:ext cx="3352800" cy="22860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685032"/>
            <a:ext cx="2987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① 即時網路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325112"/>
            <a:ext cx="2941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F2B"/>
                </a:solidFill>
                <a:latin typeface="Microsoft JhengHei"/>
              </a:rPr>
              <a:t>抓取成功 → 寫本地快取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910328"/>
            <a:ext cx="2895600" cy="347472"/>
          </a:xfrm>
          <a:prstGeom prst="round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50" b="1">
                <a:solidFill>
                  <a:srgbClr val="1F4E79"/>
                </a:solidFill>
                <a:latin typeface="Microsoft JhengHei"/>
              </a:rPr>
              <a:t>is_live = True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349240"/>
            <a:ext cx="2941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資料最新，UI 標「即時串接」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4360" y="3611880"/>
            <a:ext cx="3352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04360" y="3611880"/>
            <a:ext cx="3352800" cy="548640"/>
          </a:xfrm>
          <a:prstGeom prst="round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04360" y="3931920"/>
            <a:ext cx="3352800" cy="2286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87240" y="3685032"/>
            <a:ext cx="2987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② 本地快取 data/cache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2960" y="4325112"/>
            <a:ext cx="2941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F2B"/>
                </a:solidFill>
                <a:latin typeface="Microsoft JhengHei"/>
              </a:rPr>
              <a:t>抓取失敗 → 退回最近快取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32960" y="4910328"/>
            <a:ext cx="2895600" cy="347472"/>
          </a:xfrm>
          <a:prstGeom prst="round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50" b="1">
                <a:solidFill>
                  <a:srgbClr val="1F4E79"/>
                </a:solidFill>
                <a:latin typeface="Microsoft JhengHei"/>
              </a:rPr>
              <a:t>used_fallback = True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2960" y="5349240"/>
            <a:ext cx="2941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UI 標「離線快取備援」+ 抓取時間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31480" y="3611880"/>
            <a:ext cx="3352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31480" y="3611880"/>
            <a:ext cx="3352800" cy="548640"/>
          </a:xfrm>
          <a:prstGeom prst="round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1480" y="3931920"/>
            <a:ext cx="3352800" cy="2286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4360" y="3685032"/>
            <a:ext cx="2987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③ 版控快照 data/snapshots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0080" y="4325112"/>
            <a:ext cx="2941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F2B"/>
                </a:solidFill>
                <a:latin typeface="Microsoft JhengHei"/>
              </a:rPr>
              <a:t>GitHub Actions 每日更新進版控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60080" y="4910328"/>
            <a:ext cx="2895600" cy="347472"/>
          </a:xfrm>
          <a:prstGeom prst="roundRect">
            <a:avLst/>
          </a:prstGeom>
          <a:solidFill>
            <a:srgbClr val="EA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050" b="1">
                <a:solidFill>
                  <a:srgbClr val="1F4E79"/>
                </a:solidFill>
                <a:latin typeface="Microsoft JhengHei"/>
              </a:rPr>
              <a:t>線上部署也讀得到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0080" y="5349240"/>
            <a:ext cx="2941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無網路仍有近一天內新鮮資料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GOVERNANCE ｜ 資料治理與誠實揭露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F2B"/>
                </a:solidFill>
                <a:latin typeface="Microsoft JhengHei"/>
              </a:rPr>
              <a:t>政府敢用的前提：資料誠實、可追溯、不虛構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Microsoft JhengHei"/>
              </a:rPr>
              <a:t>資料來源矩陣三態標記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src/data_source_matrix.py（誠實清冊 R16）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423160"/>
            <a:ext cx="1828800" cy="347472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已確認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4144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Microsoft JhengHei"/>
              </a:rPr>
              <a:t>實際持有、已驗證可用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862072"/>
            <a:ext cx="1828800" cy="347472"/>
          </a:xfrm>
          <a:prstGeom prst="round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未確認 UNCONFIRMED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8036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Microsoft JhengHei"/>
              </a:rPr>
              <a:t>尚未取得，誠實標示不宣稱可用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300984"/>
            <a:ext cx="1828800" cy="347472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不適用 N/A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1927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1F2B"/>
                </a:solidFill>
                <a:latin typeface="Microsoft JhengHei"/>
              </a:rPr>
              <a:t>該屬性對此資料源不適用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46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原則：只列實際存在的資料集，絕不虛構；官方全量 API 未取得者一律標「未確認」。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463040"/>
            <a:ext cx="5212080" cy="2286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2763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Microsoft JhengHei"/>
              </a:rPr>
              <a:t>來源標註與資料治理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4808" y="2121408"/>
            <a:ext cx="109728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05740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動態 JSON 為 g0v 開源專案（江明宗）整理備份，原始來自全國教保資訊網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4808" y="2542032"/>
            <a:ext cx="109728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478024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系統一律標註來源 + 抓取時間，供時效判斷與追溯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4808" y="2962656"/>
            <a:ext cx="109728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8986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二手資料明示「需抽查」，上架前核對 5–10 筆與官方一致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64808" y="3383280"/>
            <a:ext cx="109728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31927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正式部署改接官方 API：data.gov.tw 6086 / 新北市 OpenAPI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23360"/>
            <a:ext cx="3352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023360"/>
            <a:ext cx="3352800" cy="6400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206240"/>
            <a:ext cx="2941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F8F5B"/>
                </a:solidFill>
                <a:latin typeface="Microsoft JhengHei"/>
              </a:rPr>
              <a:t>責任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617720"/>
            <a:ext cx="2941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風險 ≠ 違法；低可信度資料不得單獨推高風險；每則風險陳述附聲明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4360" y="4023360"/>
            <a:ext cx="3352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4360" y="4023360"/>
            <a:ext cx="3352800" cy="64008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2960" y="4206240"/>
            <a:ext cx="2941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C6E9B"/>
                </a:solidFill>
                <a:latin typeface="Microsoft JhengHei"/>
              </a:rPr>
              <a:t>實體解析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2960" y="4617720"/>
            <a:ext cx="2941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裁罰以個人姓名為鍵，不確定比對標「待人工確認」不強制合併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31480" y="4023360"/>
            <a:ext cx="3352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31480" y="4023360"/>
            <a:ext cx="335280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0080" y="4206240"/>
            <a:ext cx="2941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Microsoft JhengHei"/>
              </a:rPr>
              <a:t>資安合規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0080" y="4617720"/>
            <a:ext cx="2941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唯讀 HTTPS GET 不外傳資料；金鑰放 .env，check_secrets.py 上傳前掃描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DATA TO VALUE ｜ 資料如何變成稽查決策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F2B"/>
                </a:solidFill>
                <a:latin typeface="Microsoft JhengHei"/>
              </a:rPr>
              <a:t>從原始資料到可解釋風險分，一條龍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828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828800" cy="457200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011680"/>
            <a:ext cx="1828800" cy="18288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92224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原始資料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04288"/>
            <a:ext cx="16093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A1F2B"/>
                </a:solidFill>
                <a:latin typeface="Microsoft JhengHei"/>
              </a:rPr>
              <a:t>決算 PDF / 裁罰 JSON /
收費 / 評鑑 / 輿情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60904" y="2240280"/>
            <a:ext cx="256032" cy="292608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71800" y="1737360"/>
            <a:ext cx="1828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9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71800" y="1737360"/>
            <a:ext cx="1828800" cy="457200"/>
          </a:xfrm>
          <a:prstGeom prst="round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71800" y="2011680"/>
            <a:ext cx="1828800" cy="182880"/>
          </a:xfrm>
          <a:prstGeom prst="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1792224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抽取正規化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304288"/>
            <a:ext cx="16093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A1F2B"/>
                </a:solidFill>
                <a:latin typeface="Microsoft JhengHei"/>
              </a:rPr>
              <a:t>PDF 文字層 / OCR /
Bedrock / API 解析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55464" y="2240280"/>
            <a:ext cx="256032" cy="292608"/>
          </a:xfrm>
          <a:prstGeom prst="rightArrow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66360" y="1737360"/>
            <a:ext cx="1828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66360" y="1737360"/>
            <a:ext cx="1828800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2011680"/>
            <a:ext cx="1828800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1792224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鑑識會計指標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304288"/>
            <a:ext cx="16093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A1F2B"/>
                </a:solidFill>
                <a:latin typeface="Microsoft JhengHei"/>
              </a:rPr>
              <a:t>班佛 / Beneish / Altman /
孤立森林 / 勾稽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50024" y="2240280"/>
            <a:ext cx="256032" cy="292608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20" y="1737360"/>
            <a:ext cx="1828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60920" y="1737360"/>
            <a:ext cx="1828800" cy="457200"/>
          </a:xfrm>
          <a:prstGeom prst="round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0920" y="2011680"/>
            <a:ext cx="1828800" cy="18288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1792224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白盒風險分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2304288"/>
            <a:ext cx="16093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A1F2B"/>
                </a:solidFill>
                <a:latin typeface="Microsoft JhengHei"/>
              </a:rPr>
              <a:t>財務50 + 裁罰34 +
評鑑16，可攤開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244584" y="2240280"/>
            <a:ext cx="256032" cy="292608"/>
          </a:xfrm>
          <a:prstGeom prst="rightArrow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55480" y="1737360"/>
            <a:ext cx="1828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55480" y="1737360"/>
            <a:ext cx="1828800" cy="45720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55480" y="2011680"/>
            <a:ext cx="1828800" cy="18288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1792224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稽查決策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65208" y="2304288"/>
            <a:ext cx="16093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A1F2B"/>
                </a:solidFill>
                <a:latin typeface="Microsoft JhengHei"/>
              </a:rPr>
              <a:t>排名 / 地圖 / 雷達圖 /
AI建議 / 派工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4290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實際運算成果（真實資料，非模擬）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3840480"/>
            <a:ext cx="2459736" cy="1234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3840480"/>
            <a:ext cx="2459736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041648"/>
            <a:ext cx="2459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4E79"/>
                </a:solidFill>
                <a:latin typeface="Microsoft JhengHei"/>
              </a:rPr>
              <a:t>61 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" y="459028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已完成鑑識會計風險評分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93008" y="3840480"/>
            <a:ext cx="2459736" cy="1234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93008" y="3840480"/>
            <a:ext cx="2459736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3008" y="4041648"/>
            <a:ext cx="2459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4E79"/>
                </a:solidFill>
                <a:latin typeface="Microsoft JhengHei"/>
              </a:rPr>
              <a:t>1,114 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2736" y="459028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全市立案機構納管基本資料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08776" y="3840480"/>
            <a:ext cx="2459736" cy="1234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08776" y="3840480"/>
            <a:ext cx="2459736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08776" y="4041648"/>
            <a:ext cx="2459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4E79"/>
                </a:solidFill>
                <a:latin typeface="Microsoft JhengHei"/>
              </a:rPr>
              <a:t>2,838 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18504" y="459028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真實裁罰紀錄動態串接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24544" y="3840480"/>
            <a:ext cx="2459736" cy="1234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24544" y="3840480"/>
            <a:ext cx="2459736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24544" y="4041648"/>
            <a:ext cx="2459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F4E79"/>
                </a:solidFill>
                <a:latin typeface="Microsoft JhengHei"/>
              </a:rPr>
              <a:t>AUC 0.906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34272" y="4590288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以官方裁罰驗證模型鑑別力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5349240"/>
            <a:ext cx="10607040" cy="777240"/>
          </a:xfrm>
          <a:prstGeom prst="round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5394960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D97A"/>
                </a:solidFill>
                <a:latin typeface="Microsoft JhengHei"/>
              </a:rPr>
              <a:t>一句話：</a:t>
            </a:r>
            <a:r>
              <a:rPr sz="1300" b="0">
                <a:solidFill>
                  <a:srgbClr val="FFFFFF"/>
                </a:solidFill>
                <a:latin typeface="Microsoft JhengHei"/>
              </a:rPr>
              <a:t>我們不只「有資料」——靜態一手精抽保證正確、動態官方 API 保證新鮮、三層備援保證不中斷，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JhengHei"/>
              </a:rPr>
              <a:t>再經鑑識會計轉成可解釋風險分，讓每一筆公開資料都變成稽查員的決策依據。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