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822960"/>
            <a:ext cx="5303520" cy="384048"/>
          </a:xfrm>
          <a:prstGeom prst="roundRect">
            <a:avLst/>
          </a:prstGeom>
          <a:solidFill>
            <a:srgbClr val="1E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5303520" cy="384048"/>
          </a:xfrm>
          <a:prstGeom prst="rect">
            <a:avLst/>
          </a:prstGeom>
          <a:noFill/>
        </p:spPr>
        <p:txBody>
          <a:bodyPr wrap="square" lIns="6" rIns="6" anchor="ctr">
            <a:spAutoFit/>
          </a:bodyPr>
          <a:lstStyle/>
          <a:p>
            <a:pPr algn="ctr"/>
            <a:r>
              <a:rPr b="1" sz="1200">
                <a:solidFill>
                  <a:srgbClr val="FFFFFF"/>
                </a:solidFill>
                <a:latin typeface="Microsoft JhengHei"/>
              </a:rPr>
              <a:t>2026 新北市 AI 智慧城市黑客松競賽｜教育局組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8046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</a:rPr>
              <a:t>小小守護員</a:t>
            </a:r>
            <a:r>
              <a:rPr sz="3400" b="1">
                <a:solidFill>
                  <a:srgbClr val="7BB0E6"/>
                </a:solidFill>
                <a:latin typeface="Microsoft JhengHei"/>
              </a:rPr>
              <a:t> Smart Watchdog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2EBF5"/>
                </a:solidFill>
                <a:latin typeface="Microsoft JhengHei"/>
              </a:rPr>
              <a:t>AI × 鑑識會計，讓幼兒園安全風險提前被看見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10607040" cy="914400"/>
          </a:xfrm>
          <a:prstGeom prst="roundRect">
            <a:avLst/>
          </a:prstGeom>
          <a:solidFill>
            <a:srgbClr val="22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60520"/>
            <a:ext cx="9875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DFE8F4"/>
                </a:solidFill>
                <a:latin typeface="Microsoft JhengHei"/>
              </a:rPr>
              <a:t>我們不是做一個風險分數表，而是做一個能真正幫稽查人員提前判斷、派工與查核的 AI 稽查官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8DDF3"/>
                </a:solidFill>
                <a:latin typeface="Microsoft JhengHei"/>
              </a:rPr>
              <a:t>公務後台: http://18.236.246.233:8601</a:t>
            </a:r>
            <a:r>
              <a:rPr sz="1400" b="0">
                <a:solidFill>
                  <a:srgbClr val="FFFFFF"/>
                </a:solidFill>
                <a:latin typeface="Microsoft JhengHei"/>
              </a:rPr>
              <a:t>  ｜  </a:t>
            </a:r>
            <a:r>
              <a:rPr sz="1400" b="1">
                <a:solidFill>
                  <a:srgbClr val="C8DDF3"/>
                </a:solidFill>
                <a:latin typeface="Microsoft JhengHei"/>
              </a:rPr>
              <a:t>公眾查詢網: http://18.236.246.233:8602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" cy="384048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5C9F"/>
                </a:solidFill>
                <a:latin typeface="Microsoft JhengHei"/>
              </a:rPr>
              <a:t>問題意識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12064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32338"/>
                </a:solidFill>
                <a:latin typeface="Microsoft JhengHei"/>
              </a:rPr>
              <a:t>我想問的，不只是「有沒有問題」，而是「什麼時候該先察覺」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822960"/>
            <a:ext cx="10789920" cy="18288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7DEE6"/>
                </a:solidFill>
                <a:latin typeface="Microsoft Jheng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8016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E6973"/>
                </a:solidFill>
                <a:latin typeface="Microsoft JhengHei"/>
              </a:rPr>
              <a:t>我們觀察到，近年幼兒園安全事件與照顧品質問題的討論頻繁，而風險很可能與經費壓力、師資不足、照護過載有關聯。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11680"/>
            <a:ext cx="20116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11680"/>
            <a:ext cx="128016" cy="1097280"/>
          </a:xfrm>
          <a:prstGeom prst="rect">
            <a:avLst/>
          </a:prstGeom>
          <a:solidFill>
            <a:srgbClr val="D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176272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2338"/>
                </a:solidFill>
                <a:latin typeface="Microsoft JhengHei"/>
              </a:rPr>
              <a:t>經費不足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60604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973"/>
                </a:solidFill>
                <a:latin typeface="Microsoft JhengHei"/>
              </a:rPr>
              <a:t>人力/設備不足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880360" y="2423160"/>
            <a:ext cx="246888" cy="164592"/>
          </a:xfrm>
          <a:prstGeom prst="rightArrow">
            <a:avLst/>
          </a:prstGeom>
          <a:solidFill>
            <a:srgbClr val="D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00400" y="2011680"/>
            <a:ext cx="20116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7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2011680"/>
            <a:ext cx="128016" cy="1097280"/>
          </a:xfrm>
          <a:prstGeom prst="rect">
            <a:avLst/>
          </a:prstGeom>
          <a:solidFill>
            <a:srgbClr val="E87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2176272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2338"/>
                </a:solidFill>
                <a:latin typeface="Microsoft JhengHei"/>
              </a:rPr>
              <a:t>老師與照護人力不足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260604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973"/>
                </a:solidFill>
                <a:latin typeface="Microsoft JhengHei"/>
              </a:rPr>
              <a:t>照顧過載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257800" y="2423160"/>
            <a:ext cx="246888" cy="164592"/>
          </a:xfrm>
          <a:prstGeom prst="rightArrow">
            <a:avLst/>
          </a:prstGeom>
          <a:solidFill>
            <a:srgbClr val="E87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577840" y="2011680"/>
            <a:ext cx="20116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0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77840" y="2011680"/>
            <a:ext cx="128016" cy="109728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33872" y="2176272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2338"/>
                </a:solidFill>
                <a:latin typeface="Microsoft JhengHei"/>
              </a:rPr>
              <a:t>系統性監督失效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260604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973"/>
                </a:solidFill>
                <a:latin typeface="Microsoft JhengHei"/>
              </a:rPr>
              <a:t>風險被放大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635240" y="2423160"/>
            <a:ext cx="246888" cy="164592"/>
          </a:xfrm>
          <a:prstGeom prst="rightArrow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55280" y="2011680"/>
            <a:ext cx="20116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E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80" y="2011680"/>
            <a:ext cx="128016" cy="1097280"/>
          </a:xfrm>
          <a:prstGeom prst="rect">
            <a:avLst/>
          </a:prstGeom>
          <a:solidFill>
            <a:srgbClr val="5E69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1312" y="2176272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2338"/>
                </a:solidFill>
                <a:latin typeface="Microsoft JhengHei"/>
              </a:rPr>
              <a:t>兒童安全與照護風險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2" y="260604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973"/>
                </a:solidFill>
                <a:latin typeface="Microsoft JhengHei"/>
              </a:rPr>
              <a:t>需提前預警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7947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A5C9F"/>
                </a:solidFill>
                <a:latin typeface="Microsoft JhengHei"/>
              </a:rPr>
              <a:t>這不是在說「財務不好就一定有問題」；而是：財務與人力壓力，常是較早出現的前兆訊號。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343400"/>
            <a:ext cx="3383280" cy="1645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4343400"/>
            <a:ext cx="3383280" cy="91440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4526280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2338"/>
                </a:solidFill>
                <a:latin typeface="Microsoft JhengHei"/>
              </a:rPr>
              <a:t>經費壓力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98348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E6973"/>
                </a:solidFill>
                <a:latin typeface="Microsoft JhengHei"/>
              </a:rPr>
              <a:t>基金短絀、收入與支出失衡，可能反映機構承壓程度；我們把它當成重要警訊。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4343400"/>
            <a:ext cx="3383280" cy="1645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89120" y="4343400"/>
            <a:ext cx="3383280" cy="91440"/>
          </a:xfrm>
          <a:prstGeom prst="rect">
            <a:avLst/>
          </a:prstGeom>
          <a:solidFill>
            <a:srgbClr val="E87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4526280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2338"/>
                </a:solidFill>
                <a:latin typeface="Microsoft JhengHei"/>
              </a:rPr>
              <a:t>師資不足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98348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E6973"/>
                </a:solidFill>
                <a:latin typeface="Microsoft JhengHei"/>
              </a:rPr>
              <a:t>照顧人力不足可能增加細節漏失、壓力與失控風險。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01000" y="4343400"/>
            <a:ext cx="3383280" cy="1645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01000" y="4343400"/>
            <a:ext cx="3383280" cy="91440"/>
          </a:xfrm>
          <a:prstGeom prst="rect">
            <a:avLst/>
          </a:prstGeom>
          <a:solidFill>
            <a:srgbClr val="3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83879" y="4526280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32338"/>
                </a:solidFill>
                <a:latin typeface="Microsoft JhengHei"/>
              </a:rPr>
              <a:t>監理資料分散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79" y="498348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E6973"/>
                </a:solidFill>
                <a:latin typeface="Microsoft JhengHei"/>
              </a:rPr>
              <a:t>決算、收費、評鑑、裁罰、新聞各自散落，缺少整合視角。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" cy="384048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5C9F"/>
                </a:solidFill>
                <a:latin typeface="Microsoft JhengHei"/>
              </a:rPr>
              <a:t>痛點與切入點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12064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32338"/>
                </a:solidFill>
                <a:latin typeface="Microsoft JhengHei"/>
              </a:rPr>
              <a:t>現在的問題不是缺資料，而是缺一個可執行的風險前置工具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822960"/>
            <a:ext cx="10789920" cy="18288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7DEE6"/>
                </a:solidFill>
                <a:latin typeface="Microsoft JhengHe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128016" cy="1371600"/>
          </a:xfrm>
          <a:prstGeom prst="rect">
            <a:avLst/>
          </a:prstGeom>
          <a:solidFill>
            <a:srgbClr val="D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71907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D93C3C"/>
                </a:solidFill>
                <a:latin typeface="Microsoft Jheng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719072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32338"/>
                </a:solidFill>
                <a:latin typeface="Microsoft JhengHei"/>
              </a:rPr>
              <a:t>資料散落：決算、評鑑、裁罰、收費、新聞不是同一張表。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55448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1554480"/>
            <a:ext cx="128016" cy="1371600"/>
          </a:xfrm>
          <a:prstGeom prst="rect">
            <a:avLst/>
          </a:prstGeom>
          <a:solidFill>
            <a:srgbClr val="E87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171907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E87A35"/>
                </a:solidFill>
                <a:latin typeface="Microsoft Jheng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719072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32338"/>
                </a:solidFill>
                <a:latin typeface="Microsoft JhengHei"/>
              </a:rPr>
              <a:t>稽查人力有限：全市機構多，無法逐一做深度人工檢查。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7472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474720"/>
            <a:ext cx="128016" cy="137160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363931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0B342"/>
                </a:solidFill>
                <a:latin typeface="Microsoft Jheng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639312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32338"/>
                </a:solidFill>
                <a:latin typeface="Microsoft JhengHei"/>
              </a:rPr>
              <a:t>風險分數不透明：若只是黑盒，不敢在政府部門裡被責問。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347472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59" y="3474720"/>
            <a:ext cx="128016" cy="1371600"/>
          </a:xfrm>
          <a:prstGeom prst="rect">
            <a:avLst/>
          </a:prstGeom>
          <a:solidFill>
            <a:srgbClr val="3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363931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B8C5A"/>
                </a:solidFill>
                <a:latin typeface="Microsoft Jheng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639312"/>
            <a:ext cx="3840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32338"/>
                </a:solidFill>
                <a:latin typeface="Microsoft JhengHei"/>
              </a:rPr>
              <a:t>部門需要決策依據：不是只知道「有問題」，而是知道「先查誰」。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1208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A5C9F"/>
                </a:solidFill>
                <a:latin typeface="Microsoft JhengHei"/>
              </a:rPr>
              <a:t>所以我們做的，不是「AI 直接判定誰違法」，而是：用可解釋的風險評分讓稽查員先知道誰值得查、查什麼、怎麼派工。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" cy="384048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5C9F"/>
                </a:solidFill>
                <a:latin typeface="Microsoft JhengHei"/>
              </a:rPr>
              <a:t>解決方案說明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12064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32338"/>
                </a:solidFill>
                <a:latin typeface="Microsoft JhengHei"/>
              </a:rPr>
              <a:t>三步驟：抓資料 → 算風險 → 派人去勘查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822960"/>
            <a:ext cx="10789920" cy="18288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7DEE6"/>
                </a:solidFill>
                <a:latin typeface="Microsoft JhengHei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45920"/>
            <a:ext cx="34747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645920"/>
            <a:ext cx="3474720" cy="640080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288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抓資料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5176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973"/>
                </a:solidFill>
                <a:latin typeface="Microsoft JhengHei"/>
              </a:rPr>
              <a:t>整合公校決算、非營利園財報、裁罰、評鑑、公開新聞、PTT 討論與地理資訊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480560"/>
            <a:ext cx="2651760" cy="411480"/>
          </a:xfrm>
          <a:prstGeom prst="round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480560"/>
            <a:ext cx="2651760" cy="411480"/>
          </a:xfrm>
          <a:prstGeom prst="rect">
            <a:avLst/>
          </a:prstGeom>
          <a:noFill/>
        </p:spPr>
        <p:txBody>
          <a:bodyPr wrap="square" lIns="6" rIns="6" anchor="ctr">
            <a:spAutoFit/>
          </a:bodyPr>
          <a:lstStyle/>
          <a:p>
            <a:pPr algn="ctr"/>
            <a:r>
              <a:rPr b="1" sz="1200">
                <a:solidFill>
                  <a:srgbClr val="FFFFFF"/>
                </a:solidFill>
                <a:latin typeface="Microsoft JhengHei"/>
              </a:rPr>
              <a:t>核心價值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645920"/>
            <a:ext cx="34747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645920"/>
            <a:ext cx="3474720" cy="640080"/>
          </a:xfrm>
          <a:prstGeom prst="rect">
            <a:avLst/>
          </a:prstGeom>
          <a:solidFill>
            <a:srgbClr val="38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18288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算風險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65176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973"/>
                </a:solidFill>
                <a:latin typeface="Microsoft JhengHei"/>
              </a:rPr>
              <a:t>用鑑識會計與白盒規則，計算財務異常、裁罰、評鑑、輿情四項分數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4480560"/>
            <a:ext cx="2651760" cy="411480"/>
          </a:xfrm>
          <a:prstGeom prst="roundRect">
            <a:avLst/>
          </a:prstGeom>
          <a:solidFill>
            <a:srgbClr val="38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4480560"/>
            <a:ext cx="2651760" cy="411480"/>
          </a:xfrm>
          <a:prstGeom prst="rect">
            <a:avLst/>
          </a:prstGeom>
          <a:noFill/>
        </p:spPr>
        <p:txBody>
          <a:bodyPr wrap="square" lIns="6" rIns="6" anchor="ctr">
            <a:spAutoFit/>
          </a:bodyPr>
          <a:lstStyle/>
          <a:p>
            <a:pPr algn="ctr"/>
            <a:r>
              <a:rPr b="1" sz="1200">
                <a:solidFill>
                  <a:srgbClr val="FFFFFF"/>
                </a:solidFill>
                <a:latin typeface="Microsoft JhengHei"/>
              </a:rPr>
              <a:t>核心價值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645920"/>
            <a:ext cx="34747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21040" y="1645920"/>
            <a:ext cx="3474720" cy="640080"/>
          </a:xfrm>
          <a:prstGeom prst="rect">
            <a:avLst/>
          </a:prstGeom>
          <a:solidFill>
            <a:srgbClr val="3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18288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派人勘查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65176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973"/>
                </a:solidFill>
                <a:latin typeface="Microsoft JhengHei"/>
              </a:rPr>
              <a:t>依風險總分與分區/已查狀態進行排序，讓每位稽查員投入最需要的人力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41080" y="4480560"/>
            <a:ext cx="2651760" cy="411480"/>
          </a:xfrm>
          <a:prstGeom prst="roundRect">
            <a:avLst/>
          </a:prstGeom>
          <a:solidFill>
            <a:srgbClr val="3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4480560"/>
            <a:ext cx="2651760" cy="411480"/>
          </a:xfrm>
          <a:prstGeom prst="rect">
            <a:avLst/>
          </a:prstGeom>
          <a:noFill/>
        </p:spPr>
        <p:txBody>
          <a:bodyPr wrap="square" lIns="6" rIns="6" anchor="ctr">
            <a:spAutoFit/>
          </a:bodyPr>
          <a:lstStyle/>
          <a:p>
            <a:pPr algn="ctr"/>
            <a:r>
              <a:rPr b="1" sz="1200">
                <a:solidFill>
                  <a:srgbClr val="FFFFFF"/>
                </a:solidFill>
                <a:latin typeface="Microsoft JhengHei"/>
              </a:rPr>
              <a:t>核心價值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69280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A5C9F"/>
                </a:solidFill>
                <a:latin typeface="Microsoft JhengHei"/>
              </a:rPr>
              <a:t>這個系統的核心不是替代人，而是把稽查人員變成高效率的決策者：先看高風險、再看證據、最後出任務。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" cy="384048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5C9F"/>
                </a:solidFill>
                <a:latin typeface="Microsoft JhengHei"/>
              </a:rPr>
              <a:t>數據及資料運用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12064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32338"/>
                </a:solidFill>
                <a:latin typeface="Microsoft JhengHei"/>
              </a:rPr>
              <a:t>靜態資料 × 動態資料 × 輿情資料，真正形成完整風險圖譜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822960"/>
            <a:ext cx="10789920" cy="18288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7DEE6"/>
                </a:solidFill>
                <a:latin typeface="Microsoft JhengHe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63040"/>
            <a:ext cx="53035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5303520" cy="548640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4592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靜態資料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2377440"/>
            <a:ext cx="164592" cy="164592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2359152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973"/>
                </a:solidFill>
                <a:latin typeface="Microsoft JhengHei"/>
              </a:rPr>
              <a:t>公校決算書 PDF：逐筆明細供班佛檢定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3063240"/>
            <a:ext cx="164592" cy="164592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3044952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973"/>
                </a:solidFill>
                <a:latin typeface="Microsoft JhengHei"/>
              </a:rPr>
              <a:t>非營利園掃描財報：OCR 抽取財務數字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3749039"/>
            <a:ext cx="164592" cy="164592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3730752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973"/>
                </a:solidFill>
                <a:latin typeface="Microsoft JhengHei"/>
              </a:rPr>
              <a:t>基金餘額、收支結構、歷年財務趨勢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463040"/>
            <a:ext cx="52120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463040"/>
            <a:ext cx="5212080" cy="548640"/>
          </a:xfrm>
          <a:prstGeom prst="rect">
            <a:avLst/>
          </a:prstGeom>
          <a:solidFill>
            <a:srgbClr val="3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64592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動態與輿情資料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65392" y="2377440"/>
            <a:ext cx="164592" cy="164592"/>
          </a:xfrm>
          <a:prstGeom prst="rect">
            <a:avLst/>
          </a:prstGeom>
          <a:solidFill>
            <a:srgbClr val="3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35915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5E6973"/>
                </a:solidFill>
                <a:latin typeface="Microsoft JhengHei"/>
              </a:rPr>
              <a:t>全國教保資訊網：基本資料、收費、裁罰、評鑑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65392" y="3017520"/>
            <a:ext cx="164592" cy="164592"/>
          </a:xfrm>
          <a:prstGeom prst="rect">
            <a:avLst/>
          </a:prstGeom>
          <a:solidFill>
            <a:srgbClr val="3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299923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5E6973"/>
                </a:solidFill>
                <a:latin typeface="Microsoft JhengHei"/>
              </a:rPr>
              <a:t>新聞/媒體 RSS：Google News / Bing News / 政策報導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65392" y="3657600"/>
            <a:ext cx="164592" cy="164592"/>
          </a:xfrm>
          <a:prstGeom prst="rect">
            <a:avLst/>
          </a:prstGeom>
          <a:solidFill>
            <a:srgbClr val="3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363931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5E6973"/>
                </a:solidFill>
                <a:latin typeface="Microsoft JhengHei"/>
              </a:rPr>
              <a:t>PTT 公開討論：負面討論與事件型關注度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65392" y="4297679"/>
            <a:ext cx="164592" cy="164592"/>
          </a:xfrm>
          <a:prstGeom prst="rect">
            <a:avLst/>
          </a:prstGeom>
          <a:solidFill>
            <a:srgbClr val="3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427939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5E6973"/>
                </a:solidFill>
                <a:latin typeface="Microsoft JhengHei"/>
              </a:rPr>
              <a:t>開放API + 快取 + 版控快照，避免資料中斷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3035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A5C9F"/>
                </a:solidFill>
                <a:latin typeface="Microsoft JhengHei"/>
              </a:rPr>
              <a:t>我們不是只看單一資料源，而是把『事實資料』與『輿情資料』分層處理：官方事實是證據，新聞與社群是警示。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" cy="384048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5C9F"/>
                </a:solidFill>
                <a:latin typeface="Microsoft JhengHei"/>
              </a:rPr>
              <a:t>分數怎麼算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12064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32338"/>
                </a:solidFill>
                <a:latin typeface="Microsoft JhengHei"/>
              </a:rPr>
              <a:t>白盒風險分數：每一分都可以講得清楚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822960"/>
            <a:ext cx="10789920" cy="18288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7DEE6"/>
                </a:solidFill>
                <a:latin typeface="Microsoft JhengHe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394960" cy="31089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32338"/>
                </a:solidFill>
                <a:latin typeface="Microsoft JhengHei"/>
              </a:rPr>
              <a:t>總風險分 = 財務異常 × 45% + 裁罰紀錄 × 30% + 評鑑 × 15% + 輿情 × 10%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240280"/>
            <a:ext cx="164592" cy="164592"/>
          </a:xfrm>
          <a:prstGeom prst="rect">
            <a:avLst/>
          </a:prstGeom>
          <a:solidFill>
            <a:srgbClr val="D9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2219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32338"/>
                </a:solidFill>
                <a:latin typeface="Microsoft JhengHei"/>
              </a:rPr>
              <a:t>財務異常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2219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3C3C"/>
                </a:solidFill>
                <a:latin typeface="Microsoft JhengHei"/>
              </a:rPr>
              <a:t>45%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22199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5E6973"/>
                </a:solidFill>
                <a:latin typeface="Microsoft JhengHei"/>
              </a:rPr>
              <a:t>Benford、Beneish、Altman、Isolation Forest、收支比等多層檢查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898648"/>
            <a:ext cx="164592" cy="164592"/>
          </a:xfrm>
          <a:prstGeom prst="rect">
            <a:avLst/>
          </a:prstGeom>
          <a:solidFill>
            <a:srgbClr val="E87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28803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32338"/>
                </a:solidFill>
                <a:latin typeface="Microsoft JhengHei"/>
              </a:rPr>
              <a:t>裁罰紀錄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8803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E87A35"/>
                </a:solidFill>
                <a:latin typeface="Microsoft JhengHei"/>
              </a:rP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88036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5E6973"/>
                </a:solidFill>
                <a:latin typeface="Microsoft JhengHei"/>
              </a:rPr>
              <a:t>重點看違反性質與頻率；僅有明細時採破窗效應計分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557016"/>
            <a:ext cx="164592" cy="164592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35387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32338"/>
                </a:solidFill>
                <a:latin typeface="Microsoft JhengHei"/>
              </a:rPr>
              <a:t>評鑑結果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5387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B342"/>
                </a:solidFill>
                <a:latin typeface="Microsoft JhengHei"/>
              </a:rPr>
              <a:t>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53872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5E6973"/>
                </a:solidFill>
                <a:latin typeface="Microsoft JhengHei"/>
              </a:rPr>
              <a:t>優/良/乙/待改進，缺資料則以中性值處理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215384"/>
            <a:ext cx="164592" cy="164592"/>
          </a:xfrm>
          <a:prstGeom prst="rect">
            <a:avLst/>
          </a:prstGeom>
          <a:solidFill>
            <a:srgbClr val="3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419709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32338"/>
                </a:solidFill>
                <a:latin typeface="Microsoft JhengHei"/>
              </a:rPr>
              <a:t>網路輿情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19709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B8C5A"/>
                </a:solidFill>
                <a:latin typeface="Microsoft JhengHei"/>
              </a:rPr>
              <a:t>10%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19709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5E6973"/>
                </a:solidFill>
                <a:latin typeface="Microsoft JhengHei"/>
              </a:rPr>
              <a:t>新聞與PTT負面程度，查無訊號不放大風險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1645920"/>
            <a:ext cx="48463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201168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32338"/>
                </a:solidFill>
                <a:latin typeface="Microsoft JhengHei"/>
              </a:rPr>
              <a:t>實例：林口幼兒園 59.0 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6517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973"/>
                </a:solidFill>
                <a:latin typeface="Microsoft JhengHei"/>
              </a:rPr>
              <a:t>財務異常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6517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973"/>
                </a:solidFill>
                <a:latin typeface="Microsoft JhengHei"/>
              </a:rPr>
              <a:t>53.4 × 0.45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265176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3C3C"/>
                </a:solidFill>
                <a:latin typeface="Microsoft JhengHei"/>
              </a:rPr>
              <a:t>24.0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1546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973"/>
                </a:solidFill>
                <a:latin typeface="Microsoft JhengHei"/>
              </a:rPr>
              <a:t>裁罰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15468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973"/>
                </a:solidFill>
                <a:latin typeface="Microsoft JhengHei"/>
              </a:rPr>
              <a:t>90 × 0.30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315468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3C3C"/>
                </a:solidFill>
                <a:latin typeface="Microsoft JhengHei"/>
              </a:rPr>
              <a:t>27.0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6576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973"/>
                </a:solidFill>
                <a:latin typeface="Microsoft JhengHei"/>
              </a:rPr>
              <a:t>評鑑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65760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973"/>
                </a:solidFill>
                <a:latin typeface="Microsoft JhengHei"/>
              </a:rPr>
              <a:t>40 × 0.15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365760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3C3C"/>
                </a:solidFill>
                <a:latin typeface="Microsoft JhengHei"/>
              </a:rPr>
              <a:t>6.0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160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973"/>
                </a:solidFill>
                <a:latin typeface="Microsoft JhengHei"/>
              </a:rPr>
              <a:t>輿情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416052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973"/>
                </a:solidFill>
                <a:latin typeface="Microsoft JhengHei"/>
              </a:rPr>
              <a:t>20 × 0.10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41605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3C3C"/>
                </a:solidFill>
                <a:latin typeface="Microsoft JhengHei"/>
              </a:rPr>
              <a:t>2.0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12280" y="5029200"/>
            <a:ext cx="4206240" cy="18288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0" y="51663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32338"/>
                </a:solidFill>
                <a:latin typeface="Microsoft JhengHei"/>
              </a:rPr>
              <a:t>總分 = 59.0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5166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93C3C"/>
                </a:solidFill>
                <a:latin typeface="Microsoft JhengHei"/>
              </a:rPr>
              <a:t>高風險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" cy="384048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5C9F"/>
                </a:solidFill>
                <a:latin typeface="Microsoft JhengHei"/>
              </a:rPr>
              <a:t>如何派人去勘查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12064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32338"/>
                </a:solidFill>
                <a:latin typeface="Microsoft JhengHei"/>
              </a:rPr>
              <a:t>不是把所有人都查，而是讓高風險機構先被選中，且保證公平與可追溯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822960"/>
            <a:ext cx="10789920" cy="18288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7DEE6"/>
                </a:solidFill>
                <a:latin typeface="Microsoft JhengHe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A5C9F"/>
                </a:solidFill>
                <a:latin typeface="Microsoft JhengHei"/>
              </a:rPr>
              <a:t>派工核心目標：在有限稽查人力中，選出能最大化風險覆蓋的機構；若同風險則按照固定規則排隊，不讓系統隨機。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11680"/>
            <a:ext cx="23774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11680"/>
            <a:ext cx="2377440" cy="457200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9456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83464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E6973"/>
                </a:solidFill>
                <a:latin typeface="Microsoft JhengHei"/>
              </a:rPr>
              <a:t>排除已稽查機構與不符合區域限制者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2011680"/>
            <a:ext cx="23774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2011680"/>
            <a:ext cx="2377440" cy="457200"/>
          </a:xfrm>
          <a:prstGeom prst="rect">
            <a:avLst/>
          </a:prstGeom>
          <a:solidFill>
            <a:srgbClr val="E87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219456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83464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E6973"/>
                </a:solidFill>
                <a:latin typeface="Microsoft JhengHei"/>
              </a:rPr>
              <a:t>依風險分數由高到低排序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011680"/>
            <a:ext cx="23774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011680"/>
            <a:ext cx="2377440" cy="457200"/>
          </a:xfrm>
          <a:prstGeom prst="rect">
            <a:avLst/>
          </a:prstGeom>
          <a:solidFill>
            <a:srgbClr val="3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19456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83464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E6973"/>
                </a:solidFill>
                <a:latin typeface="Microsoft JhengHei"/>
              </a:rPr>
              <a:t>取前 N 名，最多派給 N 位稽查員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2011680"/>
            <a:ext cx="23774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2011680"/>
            <a:ext cx="2377440" cy="457200"/>
          </a:xfrm>
          <a:prstGeom prst="rect">
            <a:avLst/>
          </a:prstGeom>
          <a:solidFill>
            <a:srgbClr val="38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219456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83464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E6973"/>
                </a:solidFill>
                <a:latin typeface="Microsoft JhengHei"/>
              </a:rPr>
              <a:t>若合格機構少於 N，則輸出全部合格機構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846320"/>
            <a:ext cx="10698480" cy="10972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12064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32338"/>
                </a:solidFill>
                <a:latin typeface="Microsoft JhengHei"/>
              </a:rPr>
              <a:t>派工公式的感念：</a:t>
            </a:r>
            <a:r>
              <a:rPr sz="1250" b="0">
                <a:solidFill>
                  <a:srgbClr val="5E6973"/>
                </a:solidFill>
                <a:latin typeface="Microsoft JhengHei"/>
              </a:rPr>
              <a:t> 風險覆蓋最大化 = 選擇最高風險、最可能需要查核的機構。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48640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973"/>
                </a:solidFill>
                <a:latin typeface="Microsoft JhengHei"/>
              </a:rPr>
              <a:t>這裡的關鍵不是把風險當犯罪認定，而是把資源投給最值得查核的單位，讓有限的勘查人力更有效。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" cy="384048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5C9F"/>
                </a:solidFill>
                <a:latin typeface="Microsoft JhengHei"/>
              </a:rPr>
              <a:t>AWS 雲端技術架構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12064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32338"/>
                </a:solidFill>
                <a:latin typeface="Microsoft JhengHei"/>
              </a:rPr>
              <a:t>資料來源 → 雲端處理 → 風險中台 → 雙介面展示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822960"/>
            <a:ext cx="10789920" cy="18288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7DEE6"/>
                </a:solidFill>
                <a:latin typeface="Microsoft JhengHe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698480" cy="502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64208"/>
            <a:ext cx="9692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A5C9F"/>
                </a:solidFill>
                <a:latin typeface="Microsoft JhengHei"/>
              </a:rPr>
              <a:t>① 資料來源</a:t>
            </a:r>
            <a:r>
              <a:rPr sz="1100" b="0">
                <a:solidFill>
                  <a:srgbClr val="5E6973"/>
                </a:solidFill>
                <a:latin typeface="Microsoft JhengHei"/>
              </a:rPr>
              <a:t>  |  公校決算 / 非營利園財報 / 裁罰 / 評鑑 / 新聞 / PTT / 司法事實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10698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2514600"/>
            <a:ext cx="2011680" cy="777240"/>
          </a:xfrm>
          <a:prstGeom prst="roundRect">
            <a:avLst/>
          </a:prstGeom>
          <a:solidFill>
            <a:srgbClr val="E87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2651760"/>
            <a:ext cx="16824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Amazon S3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2953512"/>
            <a:ext cx="1682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Microsoft JhengHei"/>
              </a:rPr>
              <a:t>資料儲存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514600"/>
            <a:ext cx="2103120" cy="77724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0712" y="2651760"/>
            <a:ext cx="17739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Textract / Tesseract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2953512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Microsoft JhengHei"/>
              </a:rPr>
              <a:t>OCR 抽數字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2514600"/>
            <a:ext cx="2103120" cy="777240"/>
          </a:xfrm>
          <a:prstGeom prst="roundRect">
            <a:avLst/>
          </a:prstGeom>
          <a:solidFill>
            <a:srgbClr val="38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33872" y="2651760"/>
            <a:ext cx="177393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Amazon Bedrock
Claude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3872" y="2953512"/>
            <a:ext cx="17739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Microsoft JhengHei"/>
              </a:rPr>
              <a:t>生成建議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2514600"/>
            <a:ext cx="2011680" cy="777240"/>
          </a:xfrm>
          <a:prstGeom prst="roundRect">
            <a:avLst/>
          </a:prstGeom>
          <a:solidFill>
            <a:srgbClr val="3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1" y="2651760"/>
            <a:ext cx="16824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EC2 + IAM Role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2953512"/>
            <a:ext cx="1682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Microsoft JhengHei"/>
              </a:rPr>
              <a:t>運算主機 / 免金鑰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394960" y="1920240"/>
            <a:ext cx="274320" cy="182880"/>
          </a:xfrm>
          <a:prstGeom prst="rightArrow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7955279" y="1920240"/>
            <a:ext cx="274320" cy="182880"/>
          </a:xfrm>
          <a:prstGeom prst="rightArrow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3749039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977639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32338"/>
                </a:solidFill>
                <a:latin typeface="Microsoft JhengHei"/>
              </a:rPr>
              <a:t>③ 鑑識風險中台：forensic.py / risk_score.py / evidence.py / ai_report.py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937760"/>
            <a:ext cx="10698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193792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32338"/>
                </a:solidFill>
                <a:latin typeface="Microsoft JhengHei"/>
              </a:rPr>
              <a:t>④ 雙介面：公務後台 8601（稽查官）｜公眾查詢網 8602（家長）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09728" cy="384048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560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A5C9F"/>
                </a:solidFill>
                <a:latin typeface="Microsoft JhengHei"/>
              </a:rPr>
              <a:t>介面與操作流程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12064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32338"/>
                </a:solidFill>
                <a:latin typeface="Microsoft JhengHei"/>
              </a:rPr>
              <a:t>兩個入口，兩種權限，卻共用同一套風險中台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822960"/>
            <a:ext cx="10789920" cy="18288"/>
          </a:xfrm>
          <a:prstGeom prst="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2743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7DEE6"/>
                </a:solidFill>
                <a:latin typeface="Microsoft JhengHei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63040"/>
            <a:ext cx="51206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5120640" cy="548640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57276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公務後台：8601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286000"/>
            <a:ext cx="164592" cy="164592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267712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973"/>
                </a:solidFill>
                <a:latin typeface="Microsoft JhengHei"/>
              </a:rPr>
              <a:t>風險總覽：全市 KIP 與優先案件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926080"/>
            <a:ext cx="164592" cy="164592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2907792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973"/>
                </a:solidFill>
                <a:latin typeface="Microsoft JhengHei"/>
              </a:rPr>
              <a:t>風險地圖：紅黃綠標記，聚焦最需要查的園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566160"/>
            <a:ext cx="164592" cy="164592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547872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973"/>
                </a:solidFill>
                <a:latin typeface="Microsoft JhengHei"/>
              </a:rPr>
              <a:t>單園工作台：雷達圖、證據鏈、AI 建議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4206240"/>
            <a:ext cx="164592" cy="164592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4187952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973"/>
                </a:solidFill>
                <a:latin typeface="Microsoft JhengHei"/>
              </a:rPr>
              <a:t>派工：依風險最優先分配人力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463040"/>
            <a:ext cx="51206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1463040"/>
            <a:ext cx="5120640" cy="548640"/>
          </a:xfrm>
          <a:prstGeom prst="rect">
            <a:avLst/>
          </a:prstGeom>
          <a:solidFill>
            <a:srgbClr val="3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57276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JhengHei"/>
              </a:rPr>
              <a:t>公眾查詢網：8602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2286000"/>
            <a:ext cx="164592" cy="164592"/>
          </a:xfrm>
          <a:prstGeom prst="rect">
            <a:avLst/>
          </a:prstGeom>
          <a:solidFill>
            <a:srgbClr val="3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2267712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973"/>
                </a:solidFill>
                <a:latin typeface="Microsoft JhengHei"/>
              </a:rPr>
              <a:t>輸入地址，找出鄰近幼兒園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2926080"/>
            <a:ext cx="164592" cy="164592"/>
          </a:xfrm>
          <a:prstGeom prst="rect">
            <a:avLst/>
          </a:prstGeom>
          <a:solidFill>
            <a:srgbClr val="3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2907792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973"/>
                </a:solidFill>
                <a:latin typeface="Microsoft JhengHei"/>
              </a:rPr>
              <a:t>看公開學費、評鑑與裁罰狀態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3566160"/>
            <a:ext cx="164592" cy="164592"/>
          </a:xfrm>
          <a:prstGeom prst="rect">
            <a:avLst/>
          </a:prstGeom>
          <a:solidFill>
            <a:srgbClr val="3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3547872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973"/>
                </a:solidFill>
                <a:latin typeface="Microsoft JhengHei"/>
              </a:rPr>
              <a:t>查看新聞與討論的關注度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4206240"/>
            <a:ext cx="164592" cy="164592"/>
          </a:xfrm>
          <a:prstGeom prst="rect">
            <a:avLst/>
          </a:prstGeom>
          <a:solidFill>
            <a:srgbClr val="3B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4187952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973"/>
                </a:solidFill>
                <a:latin typeface="Microsoft JhengHei"/>
              </a:rPr>
              <a:t>資料層過濾風險欄位，家長拿不到內部風險分數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3035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A5C9F"/>
                </a:solidFill>
                <a:latin typeface="Microsoft JhengHei"/>
              </a:rPr>
              <a:t>關鍵設計：同一套中台，共享資料；但權限不同，民眾看的是公開資訊，政府看的是風險與證據。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5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結論：把事後被動稽查，轉成事前主動示警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0424160" cy="777240"/>
          </a:xfrm>
          <a:prstGeom prst="roundRect">
            <a:avLst/>
          </a:prstGeom>
          <a:solidFill>
            <a:srgbClr val="1E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9E8F9"/>
                </a:solidFill>
                <a:latin typeface="Microsoft JhengHei"/>
              </a:rPr>
              <a:t>讓政府知道先查誰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1488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AF2F8"/>
                </a:solidFill>
                <a:latin typeface="Microsoft JhengHei"/>
              </a:rPr>
              <a:t>不再靠人工逐間翻資料，而是以風險排序優化人力投放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337560"/>
            <a:ext cx="10424160" cy="777240"/>
          </a:xfrm>
          <a:prstGeom prst="roundRect">
            <a:avLst/>
          </a:prstGeom>
          <a:solidFill>
            <a:srgbClr val="1E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47472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9E8F9"/>
                </a:solidFill>
                <a:latin typeface="Microsoft JhengHei"/>
              </a:rPr>
              <a:t>讓家長知道什麼可查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4747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AF2F8"/>
                </a:solidFill>
                <a:latin typeface="Microsoft JhengHei"/>
              </a:rPr>
              <a:t>公開資訊端增加透明度，降低資訊不對稱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663440"/>
            <a:ext cx="10424160" cy="777240"/>
          </a:xfrm>
          <a:prstGeom prst="roundRect">
            <a:avLst/>
          </a:prstGeom>
          <a:solidFill>
            <a:srgbClr val="1E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80060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9E8F9"/>
                </a:solidFill>
                <a:latin typeface="Microsoft JhengHei"/>
              </a:rPr>
              <a:t>讓風險可被解釋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480060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AF2F8"/>
                </a:solidFill>
                <a:latin typeface="Microsoft JhengHei"/>
              </a:rPr>
              <a:t>白盒分數與證據鏈讓決策能被追問、能被執行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94360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9E8F9"/>
                </a:solidFill>
                <a:latin typeface="Microsoft JhengHei"/>
              </a:rPr>
              <a:t>小小守護員，不只是做風險評分，而是把幼兒園安全管理從「被動應對」前移到「主動預警」。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