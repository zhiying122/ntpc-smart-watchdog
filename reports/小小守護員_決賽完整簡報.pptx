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822960"/>
            <a:ext cx="5212080" cy="384048"/>
          </a:xfrm>
          <a:prstGeom prst="roundRect">
            <a:avLst/>
          </a:prstGeom>
          <a:solidFill>
            <a:srgbClr val="2A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300" b="1">
                <a:solidFill>
                  <a:srgbClr val="CFE0F0"/>
                </a:solidFill>
                <a:latin typeface="Microsoft JhengHei"/>
              </a:rPr>
              <a:t>2026 新北市 AI 智慧城市黑客松競賽 ｜ 教育局組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>
                <a:solidFill>
                  <a:srgbClr val="FFFFFF"/>
                </a:solidFill>
                <a:latin typeface="Microsoft JhengHei"/>
              </a:rPr>
              <a:t>小小守護員 </a:t>
            </a:r>
            <a:r>
              <a:rPr sz="5000" b="1">
                <a:solidFill>
                  <a:srgbClr val="7FB5DA"/>
                </a:solidFill>
                <a:latin typeface="Microsoft JhengHei"/>
              </a:rPr>
              <a:t>Smart Watchdog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2608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E6EEF6"/>
                </a:solidFill>
                <a:latin typeface="Microsoft JhengHei"/>
              </a:rPr>
              <a:t>AI × 鑑識會計，打造教保機構智慧風險預警管理系統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77639"/>
            <a:ext cx="10607040" cy="960120"/>
          </a:xfrm>
          <a:prstGeom prst="roundRect">
            <a:avLst/>
          </a:prstGeom>
          <a:solidFill>
            <a:srgbClr val="244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06908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D7E3EF"/>
                </a:solidFill>
                <a:latin typeface="Microsoft JhengHei"/>
              </a:rPr>
              <a:t>別人做幼兒園風險評分，我們做「</a:t>
            </a:r>
            <a:r>
              <a:rPr sz="1500" b="1">
                <a:solidFill>
                  <a:srgbClr val="FFD97A"/>
                </a:solidFill>
                <a:latin typeface="Microsoft JhengHei"/>
              </a:rPr>
              <a:t>AI 稽查官</a:t>
            </a:r>
            <a:r>
              <a:rPr sz="1500" b="0">
                <a:solidFill>
                  <a:srgbClr val="D7E3EF"/>
                </a:solidFill>
                <a:latin typeface="Microsoft JhengHei"/>
              </a:rPr>
              <a:t>」──用審計界抓弊案的鑑識會計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D7E3EF"/>
                </a:solidFill>
                <a:latin typeface="Microsoft JhengHei"/>
              </a:rPr>
              <a:t>算出可解釋的白盒子風險分數，讓生成式 AI 產出稽查建議，把稽查人力產能放大十倍。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6692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9FBEDC"/>
                </a:solidFill>
                <a:latin typeface="Microsoft JhengHei"/>
              </a:rPr>
              <a:t>公務後台（稽查官）:8601</a:t>
            </a:r>
            <a:r>
              <a:rPr sz="1200" b="0">
                <a:solidFill>
                  <a:srgbClr val="6E8AA6"/>
                </a:solidFill>
                <a:latin typeface="Microsoft JhengHei"/>
              </a:rPr>
              <a:t>　｜　</a:t>
            </a:r>
            <a:r>
              <a:rPr sz="1200" b="1">
                <a:solidFill>
                  <a:srgbClr val="9FBEDC"/>
                </a:solidFill>
                <a:latin typeface="Microsoft JhengHei"/>
              </a:rPr>
              <a:t>公眾查詢網（家長）:8602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E8AA6"/>
                </a:solidFill>
                <a:latin typeface="Microsoft JhengHei"/>
              </a:rPr>
              <a:t>Live on AWS EC2 · systemd 常駐 · GitHub Actions 自動部署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C6E9B"/>
                </a:solidFill>
                <a:latin typeface="Microsoft JhengHei"/>
              </a:rPr>
              <a:t>第一章　問題　·　WHY ｜ 我們為什麼做這件事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F2B"/>
                </a:solidFill>
                <a:latin typeface="Microsoft JhengHei"/>
              </a:rPr>
              <a:t>一個安全事件的背後，往往有可量化的財務前兆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33856"/>
            <a:ext cx="10607040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5DBE3"/>
                </a:solidFill>
                <a:latin typeface="Microsoft Jheng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Microsoft JhengHei"/>
              </a:rPr>
              <a:t>近年教保機構不當管理與兒童安全事件頻傳。我們追問一個問題：</a:t>
            </a:r>
            <a:r>
              <a:rPr sz="1300" b="1">
                <a:solidFill>
                  <a:srgbClr val="1F4E79"/>
                </a:solidFill>
                <a:latin typeface="Microsoft JhengHei"/>
              </a:rPr>
              <a:t>這些事件是否有更早、可從公開資料看見的前兆？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11680"/>
            <a:ext cx="214884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011680"/>
            <a:ext cx="82296" cy="114300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F2B"/>
                </a:solidFill>
                <a:latin typeface="Microsoft JhengHei"/>
              </a:rPr>
              <a:t>經費薄弱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60320"/>
            <a:ext cx="1783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財務吃緊、
入不敷出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953512" y="2423160"/>
            <a:ext cx="615696" cy="310896"/>
          </a:xfrm>
          <a:prstGeom prst="rightArrow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96640" y="2011680"/>
            <a:ext cx="214884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7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96640" y="2011680"/>
            <a:ext cx="82296" cy="1143000"/>
          </a:xfrm>
          <a:prstGeom prst="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25240" y="2157984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F2B"/>
                </a:solidFill>
                <a:latin typeface="Microsoft JhengHei"/>
              </a:rPr>
              <a:t>師資比惡化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5240" y="2560320"/>
            <a:ext cx="1783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人力不足、
照顧超載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772912" y="2423160"/>
            <a:ext cx="615696" cy="310896"/>
          </a:xfrm>
          <a:prstGeom prst="rightArrow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16040" y="2011680"/>
            <a:ext cx="214884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16040" y="2011680"/>
            <a:ext cx="82296" cy="1143000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4640" y="2157984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F2B"/>
                </a:solidFill>
                <a:latin typeface="Microsoft JhengHei"/>
              </a:rPr>
              <a:t>照顧品質下降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4640" y="2560320"/>
            <a:ext cx="1783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壓力升高、
監督不足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592312" y="2423160"/>
            <a:ext cx="615696" cy="310896"/>
          </a:xfrm>
          <a:prstGeom prst="rightArrow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440" y="2011680"/>
            <a:ext cx="214884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2011680"/>
            <a:ext cx="82296" cy="114300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2157984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F2B"/>
                </a:solidFill>
                <a:latin typeface="Microsoft JhengHei"/>
              </a:rPr>
              <a:t>安全風險上升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560320"/>
            <a:ext cx="1783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威脅兒童安全
情況增加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52044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F2B"/>
                </a:solidFill>
                <a:latin typeface="Microsoft JhengHei"/>
              </a:rPr>
              <a:t>國際實證文獻佐證（措辭均為「關聯 associated」，非單一因果）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3913632"/>
            <a:ext cx="336499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3913632"/>
            <a:ext cx="3364992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" y="4078224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Microsoft JhengHei"/>
              </a:rPr>
              <a:t>師資比 ↔ 安全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" y="4462272"/>
            <a:ext cx="29992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Microsoft JhengHei"/>
              </a:rPr>
              <a:t>「第二位照顧者在場，與幼托機構中兒虐可能性降低有關聯」；較低師生比與「較少威脅兒童安全的情況」有關。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5422392"/>
            <a:ext cx="29992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2C6E9B"/>
                </a:solidFill>
                <a:latin typeface="Microsoft JhengHei"/>
              </a:rPr>
              <a:t>來源：</a:t>
            </a:r>
            <a:r>
              <a:rPr sz="900" b="0">
                <a:solidFill>
                  <a:srgbClr val="5B6372"/>
                </a:solidFill>
                <a:latin typeface="Microsoft JhengHei"/>
              </a:rPr>
              <a:t>Child Trends (2017)，引 Howes 1990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98264" y="3913632"/>
            <a:ext cx="336499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98264" y="3913632"/>
            <a:ext cx="3364992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9432" y="4078224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Microsoft JhengHei"/>
              </a:rPr>
              <a:t>照顧超載 ↔ 失控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9432" y="4462272"/>
            <a:ext cx="29992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Microsoft JhengHei"/>
              </a:rPr>
              <a:t>當照顧者負責超過其能力所及的兒童數，壓力升高、可能失去自制力。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9432" y="5422392"/>
            <a:ext cx="29992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2C6E9B"/>
                </a:solidFill>
                <a:latin typeface="Microsoft JhengHei"/>
              </a:rPr>
              <a:t>來源：</a:t>
            </a:r>
            <a:r>
              <a:rPr sz="900" b="0">
                <a:solidFill>
                  <a:srgbClr val="5B6372"/>
                </a:solidFill>
                <a:latin typeface="Microsoft JhengHei"/>
              </a:rPr>
              <a:t>ERIC ED281642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19288" y="3913632"/>
            <a:ext cx="336499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9288" y="3913632"/>
            <a:ext cx="3364992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0456" y="4078224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Microsoft JhengHei"/>
              </a:rPr>
              <a:t>經費補助 ↔ 兒虐率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0456" y="4462272"/>
            <a:ext cx="29992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Microsoft JhengHei"/>
              </a:rPr>
              <a:t>較慷慨的托育補助政策（所得資格放寬）與較低的兒虐調查／通報率在州層級有關聯。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0456" y="5422392"/>
            <a:ext cx="29992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2C6E9B"/>
                </a:solidFill>
                <a:latin typeface="Microsoft JhengHei"/>
              </a:rPr>
              <a:t>來源：</a:t>
            </a:r>
            <a:r>
              <a:rPr sz="900" b="0">
                <a:solidFill>
                  <a:srgbClr val="5B6372"/>
                </a:solidFill>
                <a:latin typeface="Microsoft JhengHei"/>
              </a:rPr>
              <a:t>MDPI Children (2023)；PMC 補助研究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64545"/>
                </a:solidFill>
                <a:latin typeface="Microsoft JhengHei"/>
              </a:rPr>
              <a:t>我們的切入點：</a:t>
            </a:r>
            <a:r>
              <a:rPr sz="1200" b="0">
                <a:solidFill>
                  <a:srgbClr val="5B6372"/>
                </a:solidFill>
                <a:latin typeface="Microsoft JhengHei"/>
              </a:rPr>
              <a:t>與其等安全事件發生才被動稽查，不如把「財務薄弱」當成可量化的最早期前兆訊號，事前示警。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C6E9B"/>
                </a:solidFill>
                <a:latin typeface="Microsoft JhengHei"/>
              </a:rPr>
              <a:t>第一章　問題　·　PAIN POINTS ｜ 現況痛點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F2B"/>
                </a:solidFill>
                <a:latin typeface="Microsoft JhengHei"/>
              </a:rPr>
              <a:t>現行監理的四個結構性缺口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33856"/>
            <a:ext cx="10607040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5DBE3"/>
                </a:solidFill>
                <a:latin typeface="Microsoft JhengHe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54480"/>
            <a:ext cx="5166360" cy="19659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554480"/>
            <a:ext cx="82296" cy="1965960"/>
          </a:xfrm>
          <a:prstGeom prst="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10512"/>
            <a:ext cx="1005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C6CED8"/>
                </a:solidFill>
                <a:latin typeface="Microsoft Jheng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847088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A1F2B"/>
                </a:solidFill>
                <a:latin typeface="Microsoft JhengHei"/>
              </a:rPr>
              <a:t>資料分散、整合困難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395728"/>
            <a:ext cx="3794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Microsoft JhengHei"/>
              </a:rPr>
              <a:t>基本資料、評鑑、裁罰、收費、決算散落各處、格式不一，未納入即時輿情，無法形成完整風險判斷。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166360" cy="19659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82296" cy="1965960"/>
          </a:xfrm>
          <a:prstGeom prst="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810512"/>
            <a:ext cx="1005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C6CED8"/>
                </a:solidFill>
                <a:latin typeface="Microsoft Jheng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847088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A1F2B"/>
                </a:solidFill>
                <a:latin typeface="Microsoft JhengHei"/>
              </a:rPr>
              <a:t>財務異常難及早發現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2395728"/>
            <a:ext cx="3794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Microsoft JhengHei"/>
              </a:rPr>
              <a:t>決算與財報雖依法公告，卻缺乏與收費、園所規模的交叉勾稽，數字異常往往事後才被發現。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794760"/>
            <a:ext cx="5166360" cy="19659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794760"/>
            <a:ext cx="82296" cy="1965960"/>
          </a:xfrm>
          <a:prstGeom prst="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050792"/>
            <a:ext cx="1005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C6CED8"/>
                </a:solidFill>
                <a:latin typeface="Microsoft Jheng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087368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A1F2B"/>
                </a:solidFill>
                <a:latin typeface="Microsoft JhengHei"/>
              </a:rPr>
              <a:t>缺乏可量化的預警工具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636008"/>
            <a:ext cx="3794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Microsoft JhengHei"/>
              </a:rPr>
              <a:t>沒有標準化、可量化的風險評估方法，難以從大量機構中篩出該優先關注的高風險對象。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794760"/>
            <a:ext cx="5166360" cy="19659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794760"/>
            <a:ext cx="82296" cy="1965960"/>
          </a:xfrm>
          <a:prstGeom prst="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4050792"/>
            <a:ext cx="1005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C6CED8"/>
                </a:solidFill>
                <a:latin typeface="Microsoft Jheng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4087368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A1F2B"/>
                </a:solidFill>
                <a:latin typeface="Microsoft JhengHei"/>
              </a:rPr>
              <a:t>人力吃緊、決策缺依據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4636008"/>
            <a:ext cx="3794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Microsoft JhengHei"/>
              </a:rPr>
              <a:t>機構數量龐大，仰賴人工逐一篩選耗時費力，資源配置缺乏數據支撐的決策依據。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C6E9B"/>
                </a:solidFill>
                <a:latin typeface="Microsoft JhengHei"/>
              </a:rPr>
              <a:t>第二章　解法　·　SOLUTION ｜ 解決方案說明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F2B"/>
                </a:solidFill>
                <a:latin typeface="Microsoft JhengHei"/>
              </a:rPr>
              <a:t>抓資料 → 算風險 → 出建議：三段式 AI 稽查官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33856"/>
            <a:ext cx="10607040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5DBE3"/>
                </a:solidFill>
                <a:latin typeface="Microsoft JhengHe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332232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508760"/>
            <a:ext cx="3322320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057400"/>
            <a:ext cx="3322320" cy="228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709928"/>
            <a:ext cx="457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700" b="1">
                <a:solidFill>
                  <a:srgbClr val="1F4E79"/>
                </a:solidFill>
                <a:latin typeface="Microsoft Jheng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655064"/>
            <a:ext cx="2407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抓資料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68880"/>
            <a:ext cx="277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F2B"/>
                </a:solidFill>
                <a:latin typeface="Microsoft JhengHei"/>
              </a:rPr>
              <a:t>整合公開多源資料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9848" y="3044952"/>
            <a:ext cx="109728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2971800"/>
            <a:ext cx="2545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Microsoft JhengHei"/>
              </a:rPr>
              <a:t>公校決算書（PDF 文字層抽取）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9848" y="3557016"/>
            <a:ext cx="109728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483864"/>
            <a:ext cx="2545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Microsoft JhengHei"/>
              </a:rPr>
              <a:t>非營利園掃描財報（Bedrock/OCR）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9848" y="4069080"/>
            <a:ext cx="109728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3995928"/>
            <a:ext cx="2545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Microsoft JhengHei"/>
              </a:rPr>
              <a:t>裁罰、評鑑、收費、社群輿情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9600" y="1508760"/>
            <a:ext cx="332232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19600" y="1508760"/>
            <a:ext cx="3322320" cy="777240"/>
          </a:xfrm>
          <a:prstGeom prst="roundRect">
            <a:avLst/>
          </a:prstGeom>
          <a:solidFill>
            <a:srgbClr val="2C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19600" y="2057400"/>
            <a:ext cx="3322320" cy="2286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48200" y="1709928"/>
            <a:ext cx="457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700" b="1">
                <a:solidFill>
                  <a:srgbClr val="2C6E9B"/>
                </a:solidFill>
                <a:latin typeface="Microsoft JhengHe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2560" y="1655064"/>
            <a:ext cx="2407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算風險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3920" y="2468880"/>
            <a:ext cx="277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F2B"/>
                </a:solidFill>
                <a:latin typeface="Microsoft JhengHei"/>
              </a:rPr>
              <a:t>鑑識會計白盒子分數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12208" y="3044952"/>
            <a:ext cx="109728" cy="109728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22520" y="2971800"/>
            <a:ext cx="2545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Microsoft JhengHei"/>
              </a:rPr>
              <a:t>班佛定律、Beneish、Altman、孤立森林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12208" y="3557016"/>
            <a:ext cx="109728" cy="109728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22520" y="3483864"/>
            <a:ext cx="2545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Microsoft JhengHei"/>
              </a:rPr>
              <a:t>財務比率交叉勾稽、基金餘額勾稽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12208" y="4069080"/>
            <a:ext cx="109728" cy="109728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22520" y="3995928"/>
            <a:ext cx="2545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Microsoft JhengHei"/>
              </a:rPr>
              <a:t>0–100 可攤開解釋，非黑盒子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1508760"/>
            <a:ext cx="332232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61960" y="1508760"/>
            <a:ext cx="3322320" cy="777240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61960" y="2057400"/>
            <a:ext cx="3322320" cy="22860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90560" y="1709928"/>
            <a:ext cx="457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700" b="1">
                <a:solidFill>
                  <a:srgbClr val="3F8F5B"/>
                </a:solidFill>
                <a:latin typeface="Microsoft JhengHe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4920" y="1655064"/>
            <a:ext cx="2407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出建議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6280" y="2468880"/>
            <a:ext cx="277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F2B"/>
                </a:solidFill>
                <a:latin typeface="Microsoft JhengHei"/>
              </a:rPr>
              <a:t>生成式 AI 稽查輔助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54568" y="3044952"/>
            <a:ext cx="109728" cy="109728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64880" y="2971800"/>
            <a:ext cx="2545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Microsoft JhengHei"/>
              </a:rPr>
              <a:t>AWS Bedrock（Claude）翻譯數字成白話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54568" y="3557016"/>
            <a:ext cx="109728" cy="109728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64880" y="3483864"/>
            <a:ext cx="2545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Microsoft JhengHei"/>
              </a:rPr>
              <a:t>指出異常、給具體查核方向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54568" y="4069080"/>
            <a:ext cx="109728" cy="109728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64880" y="3995928"/>
            <a:ext cx="2545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Microsoft JhengHei"/>
              </a:rPr>
              <a:t>責任 AI：風險 ≠ 違法，附證據鏈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4937760"/>
            <a:ext cx="3352800" cy="1051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4937760"/>
            <a:ext cx="82296" cy="105156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2" y="5102352"/>
            <a:ext cx="298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F2B"/>
                </a:solidFill>
                <a:latin typeface="Microsoft JhengHei"/>
              </a:rPr>
              <a:t>提升風險辨識率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272" y="5504688"/>
            <a:ext cx="298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從公開資料篩出高風險機構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04360" y="4937760"/>
            <a:ext cx="3352800" cy="1051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404360" y="4937760"/>
            <a:ext cx="82296" cy="105156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60392" y="5102352"/>
            <a:ext cx="298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F2B"/>
                </a:solidFill>
                <a:latin typeface="Microsoft JhengHei"/>
              </a:rPr>
              <a:t>縮短預警時間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0392" y="5504688"/>
            <a:ext cx="298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事後被動稽查 → 事前主動示警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31480" y="4937760"/>
            <a:ext cx="3352800" cy="1051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31480" y="4937760"/>
            <a:ext cx="82296" cy="105156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87512" y="5102352"/>
            <a:ext cx="298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F2B"/>
                </a:solidFill>
                <a:latin typeface="Microsoft JhengHei"/>
              </a:rPr>
              <a:t>降低人力負擔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87512" y="5504688"/>
            <a:ext cx="298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有限人力精準投放最該查的園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C6E9B"/>
                </a:solidFill>
                <a:latin typeface="Microsoft JhengHei"/>
              </a:rPr>
              <a:t>第二章　解法　·　MOAT ｜ 差異化護城河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F2B"/>
                </a:solidFill>
                <a:latin typeface="Microsoft JhengHei"/>
              </a:rPr>
              <a:t>鑑識會計搬進幼兒園：多層方法，全部有文獻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33856"/>
            <a:ext cx="10607040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5DBE3"/>
                </a:solidFill>
                <a:latin typeface="Microsoft JhengHe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Microsoft JhengHei"/>
              </a:rPr>
              <a:t>90% 隊伍只做「風險評分」，</a:t>
            </a:r>
            <a:r>
              <a:rPr sz="1250" b="1">
                <a:solidFill>
                  <a:srgbClr val="1F4E79"/>
                </a:solidFill>
                <a:latin typeface="Microsoft JhengHei"/>
              </a:rPr>
              <a:t>我們用審計界抓弊案的鑑識會計方法</a:t>
            </a:r>
            <a:r>
              <a:rPr sz="1250" b="0">
                <a:solidFill>
                  <a:srgbClr val="5B6372"/>
                </a:solidFill>
                <a:latin typeface="Microsoft JhengHei"/>
              </a:rPr>
              <a:t>，每一層都可解釋、有學術佐證。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36499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74519"/>
            <a:ext cx="3364992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2057399"/>
            <a:ext cx="29535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1F2B"/>
                </a:solidFill>
                <a:latin typeface="Microsoft JhengHei"/>
              </a:rPr>
              <a:t>班佛定律 Benford's Law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2587751"/>
            <a:ext cx="29535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逐筆明細首位數分布偏離自然律 → 數字造假傾向（MAD + 卡方）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" y="3172967"/>
            <a:ext cx="2953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2C6E9B"/>
                </a:solidFill>
                <a:latin typeface="Microsoft JhengHei"/>
              </a:rPr>
              <a:t>文獻：</a:t>
            </a:r>
            <a:r>
              <a:rPr sz="900" b="0">
                <a:solidFill>
                  <a:srgbClr val="5B6372"/>
                </a:solidFill>
                <a:latin typeface="Microsoft JhengHei"/>
              </a:rPr>
              <a:t>Nigrini；Durtschi 2004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4" y="1874519"/>
            <a:ext cx="336499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98264" y="1874519"/>
            <a:ext cx="3364992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057399"/>
            <a:ext cx="29535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1F2B"/>
                </a:solidFill>
                <a:latin typeface="Microsoft JhengHei"/>
              </a:rPr>
              <a:t>Beneish M-Score 改良版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587751"/>
            <a:ext cx="29535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收入與支出成長背離、應計異常 → 盈餘操縱（非營利在地化）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172967"/>
            <a:ext cx="2953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2C6E9B"/>
                </a:solidFill>
                <a:latin typeface="Microsoft JhengHei"/>
              </a:rPr>
              <a:t>文獻：</a:t>
            </a:r>
            <a:r>
              <a:rPr sz="900" b="0">
                <a:solidFill>
                  <a:srgbClr val="5B6372"/>
                </a:solidFill>
                <a:latin typeface="Microsoft JhengHei"/>
              </a:rPr>
              <a:t>Beneish 1999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9288" y="1874519"/>
            <a:ext cx="336499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1874519"/>
            <a:ext cx="3364992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2057399"/>
            <a:ext cx="29535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1F2B"/>
                </a:solidFill>
                <a:latin typeface="Microsoft JhengHei"/>
              </a:rPr>
              <a:t>Altman Z'' 困境分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2587751"/>
            <a:ext cx="29535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財務困境代理比率 → 對應舞弊三角的「壓力」構面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3172967"/>
            <a:ext cx="2953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2C6E9B"/>
                </a:solidFill>
                <a:latin typeface="Microsoft JhengHei"/>
              </a:rPr>
              <a:t>文獻：</a:t>
            </a:r>
            <a:r>
              <a:rPr sz="900" b="0">
                <a:solidFill>
                  <a:srgbClr val="5B6372"/>
                </a:solidFill>
                <a:latin typeface="Microsoft JhengHei"/>
              </a:rPr>
              <a:t>Altman 1968 / 2013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657599"/>
            <a:ext cx="336499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3657599"/>
            <a:ext cx="3364992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" y="3840479"/>
            <a:ext cx="29535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1F2B"/>
                </a:solidFill>
                <a:latin typeface="Microsoft JhengHei"/>
              </a:rPr>
              <a:t>Isolation Forest + SHAP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" y="4370831"/>
            <a:ext cx="29535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非監督多維異常偵測，SHAP 解釋為何異常，維持白盒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" y="4956047"/>
            <a:ext cx="2953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2C6E9B"/>
                </a:solidFill>
                <a:latin typeface="Microsoft JhengHei"/>
              </a:rPr>
              <a:t>文獻：</a:t>
            </a:r>
            <a:r>
              <a:rPr sz="900" b="0">
                <a:solidFill>
                  <a:srgbClr val="5B6372"/>
                </a:solidFill>
                <a:latin typeface="Microsoft JhengHei"/>
              </a:rPr>
              <a:t>Protiviti 白皮書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98264" y="3657599"/>
            <a:ext cx="336499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98264" y="3657599"/>
            <a:ext cx="3364992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3840479"/>
            <a:ext cx="29535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1F2B"/>
                </a:solidFill>
                <a:latin typeface="Microsoft JhengHei"/>
              </a:rPr>
              <a:t>財務比率交叉勾稽 + IQR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370831"/>
            <a:ext cx="29535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每幼兒單位成本、人事費占比、收支比 vs 同儕離群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956047"/>
            <a:ext cx="2953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2C6E9B"/>
                </a:solidFill>
                <a:latin typeface="Microsoft JhengHei"/>
              </a:rPr>
              <a:t>文獻：</a:t>
            </a:r>
            <a:r>
              <a:rPr sz="900" b="0">
                <a:solidFill>
                  <a:srgbClr val="5B6372"/>
                </a:solidFill>
                <a:latin typeface="Microsoft JhengHei"/>
              </a:rPr>
              <a:t>PCAOB AS 2305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19288" y="3657599"/>
            <a:ext cx="336499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19288" y="3657599"/>
            <a:ext cx="3364992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38744" y="3840479"/>
            <a:ext cx="29535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1F2B"/>
                </a:solidFill>
                <a:latin typeface="Microsoft JhengHei"/>
              </a:rPr>
              <a:t>基金餘額勾稽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38744" y="4370831"/>
            <a:ext cx="29535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期末 = 期初 + 本期賸餘；跨年度連續性，接不上即紅旗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38744" y="4956047"/>
            <a:ext cx="2953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2C6E9B"/>
                </a:solidFill>
                <a:latin typeface="Microsoft JhengHei"/>
              </a:rPr>
              <a:t>文獻：</a:t>
            </a:r>
            <a:r>
              <a:rPr sz="900" b="0">
                <a:solidFill>
                  <a:srgbClr val="5B6372"/>
                </a:solidFill>
                <a:latin typeface="Microsoft JhengHei"/>
              </a:rPr>
              <a:t>政府基金會計恆等式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C6E9B"/>
                </a:solidFill>
                <a:latin typeface="Microsoft JhengHei"/>
              </a:rPr>
              <a:t>第二章　解法　·　EXPLAINABLE ｜ 白盒子風險分數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F2B"/>
                </a:solidFill>
                <a:latin typeface="Microsoft JhengHei"/>
              </a:rPr>
              <a:t>禁止黑盒子：每一分都攤得開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33856"/>
            <a:ext cx="10607040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5DBE3"/>
                </a:solidFill>
                <a:latin typeface="Microsoft JhengHe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5029200" cy="23317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53619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F2B"/>
                </a:solidFill>
                <a:latin typeface="Microsoft JhengHei"/>
              </a:rPr>
              <a:t>分項權重（可解釋加權，四項全計入）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1975104"/>
            <a:ext cx="128016" cy="36576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938528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F2B"/>
                </a:solidFill>
                <a:latin typeface="Microsoft JhengHei"/>
              </a:rPr>
              <a:t>財務異常  </a:t>
            </a:r>
            <a:r>
              <a:rPr sz="1400" b="1">
                <a:solidFill>
                  <a:srgbClr val="D64545"/>
                </a:solidFill>
                <a:latin typeface="Microsoft JhengHei"/>
              </a:rPr>
              <a:t>45%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984248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Microsoft JhengHei"/>
              </a:rPr>
              <a:t>鑑識會計多層方法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2377440"/>
            <a:ext cx="128016" cy="365760"/>
          </a:xfrm>
          <a:prstGeom prst="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340864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F2B"/>
                </a:solidFill>
                <a:latin typeface="Microsoft JhengHei"/>
              </a:rPr>
              <a:t>裁罰紀錄  </a:t>
            </a:r>
            <a:r>
              <a:rPr sz="1400" b="1">
                <a:solidFill>
                  <a:srgbClr val="E07B2B"/>
                </a:solidFill>
                <a:latin typeface="Microsoft JhengHei"/>
              </a:rPr>
              <a:t>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386584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Microsoft JhengHei"/>
              </a:rPr>
              <a:t>事由分類 + 嚴重度 / 破窗效應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2779776"/>
            <a:ext cx="128016" cy="365760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74320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F2B"/>
                </a:solidFill>
                <a:latin typeface="Microsoft JhengHei"/>
              </a:rPr>
              <a:t>評鑑結果  </a:t>
            </a:r>
            <a:r>
              <a:rPr sz="1400" b="1">
                <a:solidFill>
                  <a:srgbClr val="E0A93B"/>
                </a:solidFill>
                <a:latin typeface="Microsoft JhengHei"/>
              </a:rPr>
              <a:t>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78892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Microsoft JhengHei"/>
              </a:rPr>
              <a:t>優0 / 良20 / 乙40 / 待改進90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3182112"/>
            <a:ext cx="128016" cy="36576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F2B"/>
                </a:solidFill>
                <a:latin typeface="Microsoft JhengHei"/>
              </a:rPr>
              <a:t>網路輿情  </a:t>
            </a:r>
            <a:r>
              <a:rPr sz="1400" b="1">
                <a:solidFill>
                  <a:srgbClr val="3F8F5B"/>
                </a:solidFill>
                <a:latin typeface="Microsoft JhengHei"/>
              </a:rPr>
              <a:t>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191256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Microsoft JhengHei"/>
              </a:rPr>
              <a:t>真實公開新聞負面度·上限15分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364992"/>
            <a:ext cx="4480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Microsoft JhengHei"/>
              </a:rPr>
              <a:t>＊輿情已接入真實公開新聞爬蟲（Google/Bing News + 台灣媒體 RSS），</a:t>
            </a:r>
            <a:r>
              <a:rPr sz="850" b="0">
                <a:solidFill>
                  <a:srgbClr val="5B6372"/>
                </a:solidFill>
                <a:latin typeface="Microsoft JhengHei"/>
              </a:rPr>
              <a:t>白盒 NLP 判負面度、每筆附原文可追溯，故正式計入總分（誠實揭露）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41732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72200" y="1417320"/>
            <a:ext cx="5212080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1737360"/>
            <a:ext cx="5212080" cy="1828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490472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判定範例：新北市立林口幼兒園 59.0 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0116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F2B"/>
                </a:solidFill>
                <a:latin typeface="Microsoft JhengHei"/>
              </a:rPr>
              <a:t>財務異常  53.4 × 0.45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201168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D64545"/>
                </a:solidFill>
                <a:latin typeface="Microsoft JhengHei"/>
              </a:rPr>
              <a:t>= 24.0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3774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F2B"/>
                </a:solidFill>
                <a:latin typeface="Microsoft JhengHei"/>
              </a:rPr>
              <a:t>裁罰(2次) 90  × 0.30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237744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07B2B"/>
                </a:solidFill>
                <a:latin typeface="Microsoft JhengHei"/>
              </a:rPr>
              <a:t>= 27.0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7432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F2B"/>
                </a:solidFill>
                <a:latin typeface="Microsoft JhengHei"/>
              </a:rPr>
              <a:t>評鑑(乙)  40  × 0.15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274320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0A93B"/>
                </a:solidFill>
                <a:latin typeface="Microsoft JhengHei"/>
              </a:rPr>
              <a:t>=  6.0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1089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F2B"/>
                </a:solidFill>
                <a:latin typeface="Microsoft JhengHei"/>
              </a:rPr>
              <a:t>輿情(中性)20  × 0.10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310896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F8F5B"/>
                </a:solidFill>
                <a:latin typeface="Microsoft JhengHei"/>
              </a:rPr>
              <a:t>=  2.0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3474720"/>
            <a:ext cx="4572000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354787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F2B"/>
                </a:solidFill>
                <a:latin typeface="Microsoft JhengHei"/>
              </a:rPr>
              <a:t>總風險分（相對分級：高）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354787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D64545"/>
                </a:solidFill>
                <a:latin typeface="Microsoft JhengHei"/>
              </a:rPr>
              <a:t>59.0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3977639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F2B"/>
                </a:solidFill>
                <a:latin typeface="Microsoft JhengHei"/>
              </a:rPr>
              <a:t>模型鑑別力驗證（以官方裁罰為標籤，python -m src.validate 即時產生）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4251960"/>
            <a:ext cx="2480310" cy="14173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251960"/>
            <a:ext cx="2480310" cy="64008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434840"/>
            <a:ext cx="248031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Microsoft JhengHei"/>
              </a:rPr>
              <a:t>AUC-ROC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754880"/>
            <a:ext cx="24803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0.906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239512"/>
            <a:ext cx="229743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Microsoft JhengHei"/>
              </a:rPr>
              <a:t>辨識力優異 (&gt;0.9)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86150" y="4251960"/>
            <a:ext cx="2480310" cy="14173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86150" y="4251960"/>
            <a:ext cx="2480310" cy="64008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86150" y="4434840"/>
            <a:ext cx="248031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Microsoft JhengHei"/>
              </a:rPr>
              <a:t>Recall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86150" y="4754880"/>
            <a:ext cx="24803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1.00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77590" y="5239512"/>
            <a:ext cx="229743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Microsoft JhengHei"/>
              </a:rPr>
              <a:t>被裁罰園零漏抓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95060" y="4251960"/>
            <a:ext cx="2480310" cy="14173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95060" y="4251960"/>
            <a:ext cx="2480310" cy="64008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95060" y="4434840"/>
            <a:ext cx="248031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Microsoft JhengHei"/>
              </a:rPr>
              <a:t>相關係數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95060" y="4754880"/>
            <a:ext cx="24803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0.733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86500" y="5239512"/>
            <a:ext cx="229743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Microsoft JhengHei"/>
              </a:rPr>
              <a:t>風險分與裁罰高度正相關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03970" y="4251960"/>
            <a:ext cx="2480310" cy="14173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903970" y="4251960"/>
            <a:ext cx="2480310" cy="64008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03970" y="4434840"/>
            <a:ext cx="248031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Microsoft JhengHei"/>
              </a:rPr>
              <a:t>權重敏感度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03970" y="4754880"/>
            <a:ext cx="24803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ρ≥0.97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95410" y="5239512"/>
            <a:ext cx="229743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Microsoft JhengHei"/>
              </a:rPr>
              <a:t>改權重排名幾乎不變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C6E9B"/>
                </a:solidFill>
                <a:latin typeface="Microsoft JhengHei"/>
              </a:rPr>
              <a:t>第三章　資料　·　DATA ｜ 數據及資料運用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F2B"/>
                </a:solidFill>
                <a:latin typeface="Microsoft JhengHei"/>
              </a:rPr>
              <a:t>資料來源清冊：官方一手 × 自行蒐集，全部可追溯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33856"/>
            <a:ext cx="10607040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5DBE3"/>
                </a:solidFill>
                <a:latin typeface="Microsoft JhengHe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27080" cy="384048"/>
          </a:xfrm>
          <a:prstGeom prst="rect">
            <a:avLst/>
          </a:prstGeom>
          <a:solidFill>
            <a:srgbClr val="14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2331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資料類別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417320"/>
            <a:ext cx="3520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來源機關 / 網站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417320"/>
            <a:ext cx="2423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取得方式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417320"/>
            <a:ext cx="1920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801368"/>
            <a:ext cx="1092708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801368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F2B"/>
                </a:solidFill>
                <a:latin typeface="Microsoft JhengHei"/>
              </a:rPr>
              <a:t>公校決算書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801368"/>
            <a:ext cx="3520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Microsoft JhengHei"/>
              </a:rPr>
              <a:t>新北市政府主計處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67728" y="1865376"/>
            <a:ext cx="2331720" cy="2743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主辦方提供 + 公開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801368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1F2B"/>
                </a:solidFill>
                <a:latin typeface="Microsoft JhengHei"/>
              </a:rPr>
              <a:t>110–113 年度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03704"/>
            <a:ext cx="10927080" cy="40233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203704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F2B"/>
                </a:solidFill>
                <a:latin typeface="Microsoft JhengHei"/>
              </a:rPr>
              <a:t>非營利園財報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203704"/>
            <a:ext cx="3520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Microsoft JhengHei"/>
              </a:rPr>
              <a:t>新北市政府教育局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67728" y="2267712"/>
            <a:ext cx="2331720" cy="2743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主辦方提供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203704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1F2B"/>
                </a:solidFill>
                <a:latin typeface="Microsoft JhengHei"/>
              </a:rPr>
              <a:t>132 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606040"/>
            <a:ext cx="1092708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2606040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F2B"/>
                </a:solidFill>
                <a:latin typeface="Microsoft JhengHei"/>
              </a:rPr>
              <a:t>全國機構名冊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606040"/>
            <a:ext cx="3520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Microsoft JhengHei"/>
              </a:rPr>
              <a:t>全國教保資訊網（教育部）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67728" y="2670048"/>
            <a:ext cx="2331720" cy="274320"/>
          </a:xfrm>
          <a:prstGeom prst="round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自行蒐集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606040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1F2B"/>
                </a:solidFill>
                <a:latin typeface="Microsoft JhengHei"/>
              </a:rPr>
              <a:t>1,111 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008376"/>
            <a:ext cx="10927080" cy="40233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008376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F2B"/>
                </a:solidFill>
                <a:latin typeface="Microsoft JhengHei"/>
              </a:rPr>
              <a:t>裁罰紀錄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008376"/>
            <a:ext cx="3520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Microsoft JhengHei"/>
              </a:rPr>
              <a:t>全國教保資訊網 裁罰查詢
ap.ece.moe.edu.tw/webecems/punishSearch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67728" y="3072384"/>
            <a:ext cx="2331720" cy="274320"/>
          </a:xfrm>
          <a:prstGeom prst="round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自行爬取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008376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1F2B"/>
                </a:solidFill>
                <a:latin typeface="Microsoft JhengHei"/>
              </a:rPr>
              <a:t>2,838 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410712"/>
            <a:ext cx="1092708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3410712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F2B"/>
                </a:solidFill>
                <a:latin typeface="Microsoft JhengHei"/>
              </a:rPr>
              <a:t>基本 / 收費 / 座標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3410712"/>
            <a:ext cx="3520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Microsoft JhengHei"/>
              </a:rPr>
              <a:t>全國教保資訊網（經 g0v 整理）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67728" y="3474720"/>
            <a:ext cx="2331720" cy="2743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動態 API（免金鑰）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3410712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1F2B"/>
                </a:solidFill>
                <a:latin typeface="Microsoft JhengHei"/>
              </a:rPr>
              <a:t>全市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813048"/>
            <a:ext cx="10927080" cy="40233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3813048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F2B"/>
                </a:solidFill>
                <a:latin typeface="Microsoft JhengHei"/>
              </a:rPr>
              <a:t>全市逐年統計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3813048"/>
            <a:ext cx="3520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Microsoft JhengHei"/>
              </a:rPr>
              <a:t>教育部統計處 開放資料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67728" y="3877056"/>
            <a:ext cx="2331720" cy="2743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data.gov.tw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3813048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1F2B"/>
                </a:solidFill>
                <a:latin typeface="Microsoft JhengHei"/>
              </a:rPr>
              <a:t>104–110 學年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4215384"/>
            <a:ext cx="1092708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4215384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F2B"/>
                </a:solidFill>
                <a:latin typeface="Microsoft JhengHei"/>
              </a:rPr>
              <a:t>政府開放資料檢索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4215384"/>
            <a:ext cx="3520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Microsoft JhengHei"/>
              </a:rPr>
              <a:t>政府資料開放平臺 data.gov.tw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67728" y="4279392"/>
            <a:ext cx="2331720" cy="274320"/>
          </a:xfrm>
          <a:prstGeom prst="round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自行檢索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4215384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1F2B"/>
                </a:solidFill>
                <a:latin typeface="Microsoft JhengHei"/>
              </a:rPr>
              <a:t>多資料集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4617720"/>
            <a:ext cx="10927080" cy="40233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4617720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F2B"/>
                </a:solidFill>
                <a:latin typeface="Microsoft JhengHei"/>
              </a:rPr>
              <a:t>新聞輿情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0" y="4617720"/>
            <a:ext cx="3520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Microsoft JhengHei"/>
              </a:rPr>
              <a:t>Google/Bing News + 自由/東森/中央社/聯合報 RSS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67728" y="4681728"/>
            <a:ext cx="2331720" cy="274320"/>
          </a:xfrm>
          <a:prstGeom prst="round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自行爬取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4617720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1F2B"/>
                </a:solidFill>
                <a:latin typeface="Microsoft JhengHei"/>
              </a:rPr>
              <a:t>即時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5020056"/>
            <a:ext cx="1092708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5020056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F2B"/>
                </a:solidFill>
                <a:latin typeface="Microsoft JhengHei"/>
              </a:rPr>
              <a:t>社群輿情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91840" y="5020056"/>
            <a:ext cx="3520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Microsoft JhengHei"/>
              </a:rPr>
              <a:t>PTT（BabyMother / BabyProducts 看板）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967728" y="5084064"/>
            <a:ext cx="2331720" cy="274320"/>
          </a:xfrm>
          <a:prstGeom prst="round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自行爬取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5020056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1F2B"/>
                </a:solidFill>
                <a:latin typeface="Microsoft JhengHei"/>
              </a:rPr>
              <a:t>即時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5422392"/>
            <a:ext cx="10927080" cy="40233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7240" y="5422392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F2B"/>
                </a:solidFill>
                <a:latin typeface="Microsoft JhengHei"/>
              </a:rPr>
              <a:t>司法事實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91840" y="5422392"/>
            <a:ext cx="3520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Microsoft JhengHei"/>
              </a:rPr>
              <a:t>司法院裁判書 / 行政處分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967728" y="5486400"/>
            <a:ext cx="2331720" cy="274320"/>
          </a:xfrm>
          <a:prstGeom prst="round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連接器（區分確定/程序）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0" y="5422392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1F2B"/>
                </a:solidFill>
                <a:latin typeface="Microsoft JhengHei"/>
              </a:rPr>
              <a:t>事實層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" y="1417320"/>
            <a:ext cx="10927080" cy="4407408"/>
          </a:xfrm>
          <a:prstGeom prst="rect">
            <a:avLst/>
          </a:prstGeom>
          <a:noFill/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5897880"/>
            <a:ext cx="10927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4E79"/>
                </a:solidFill>
                <a:latin typeface="Microsoft JhengHei"/>
              </a:rPr>
              <a:t>　</a:t>
            </a:r>
            <a:r>
              <a:rPr sz="1000" b="1">
                <a:solidFill>
                  <a:srgbClr val="1F4E79"/>
                </a:solidFill>
                <a:latin typeface="Microsoft JhengHei"/>
              </a:rPr>
              <a:t>■ 官方提供 / 開放資料　　</a:t>
            </a:r>
            <a:r>
              <a:rPr sz="1000" b="1">
                <a:solidFill>
                  <a:srgbClr val="E07B2B"/>
                </a:solidFill>
                <a:latin typeface="Microsoft JhengHei"/>
              </a:rPr>
              <a:t>■ 自行蒐集 / 爬取（合規公開來源）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C6E9B"/>
                </a:solidFill>
                <a:latin typeface="Microsoft JhengHei"/>
              </a:rPr>
              <a:t>第三章　資料　·　DATA ｜ 數據及資料運用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F2B"/>
                </a:solidFill>
                <a:latin typeface="Microsoft JhengHei"/>
              </a:rPr>
              <a:t>靜態一手精抽 × 動態官方 API：雙軌互補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33856"/>
            <a:ext cx="10607040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5DBE3"/>
                </a:solidFill>
                <a:latin typeface="Microsoft JhengHe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Microsoft JhengHei"/>
              </a:rPr>
              <a:t>回應痛點 1：</a:t>
            </a:r>
            <a:r>
              <a:rPr sz="1200" b="0">
                <a:solidFill>
                  <a:srgbClr val="5B6372"/>
                </a:solidFill>
                <a:latin typeface="Microsoft JhengHei"/>
              </a:rPr>
              <a:t>把系統從「靜態一次性資料」升級為「動態串接官方開放資料 + 快取 + 離線備援」的整合平台。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512064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874519"/>
            <a:ext cx="5120640" cy="640080"/>
          </a:xfrm>
          <a:prstGeom prst="roundRect">
            <a:avLst/>
          </a:prstGeom>
          <a:solidFill>
            <a:srgbClr val="14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285999"/>
            <a:ext cx="5120640" cy="228600"/>
          </a:xfrm>
          <a:prstGeom prst="rect">
            <a:avLst/>
          </a:prstGeom>
          <a:solidFill>
            <a:srgbClr val="14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947671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靜態資料 </a:t>
            </a:r>
            <a:r>
              <a:rPr sz="1200" b="1">
                <a:solidFill>
                  <a:srgbClr val="FFD97A"/>
                </a:solidFill>
                <a:latin typeface="Microsoft JhengHei"/>
              </a:rPr>
              <a:t>STATIC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2807207"/>
            <a:ext cx="118872" cy="1188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743199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F2B"/>
                </a:solidFill>
                <a:latin typeface="Microsoft JhengHei"/>
              </a:rPr>
              <a:t>公校決算書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1016" y="3035807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來源：新北市政府主計處｜PyMuPDF 文字層抽取，含逐筆明細供班佛檢定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3465575"/>
            <a:ext cx="118872" cy="1188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71016" y="3401567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F2B"/>
                </a:solidFill>
                <a:latin typeface="Microsoft JhengHei"/>
              </a:rPr>
              <a:t>非營利園掃描財報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1016" y="3694175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來源：新北市教育局｜Tesseract OCR + Bedrock 多模態抽取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4123943"/>
            <a:ext cx="118872" cy="1188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71016" y="4059935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F2B"/>
                </a:solidFill>
                <a:latin typeface="Microsoft JhengHei"/>
              </a:rPr>
              <a:t>地理座標（衍生）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1016" y="4352543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OpenStreetMap Nominatim geocoding 產生 lat/lng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874519"/>
            <a:ext cx="512064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63640" y="1874519"/>
            <a:ext cx="5120640" cy="640080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285999"/>
            <a:ext cx="5120640" cy="22860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947671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動態資料 </a:t>
            </a:r>
            <a:r>
              <a:rPr sz="1200" b="1">
                <a:solidFill>
                  <a:srgbClr val="FFD97A"/>
                </a:solidFill>
                <a:latin typeface="Microsoft JhengHei"/>
              </a:rPr>
              <a:t>LIVE 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2807207"/>
            <a:ext cx="118872" cy="118872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57416" y="2743199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F2B"/>
                </a:solidFill>
                <a:latin typeface="Microsoft JhengHei"/>
              </a:rPr>
              <a:t>幼兒園基本資料 / 收費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7416" y="3035807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來源：全國教保資訊網（教育部）｜preschools.json GeoJSON 含座標，免金鑰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3465575"/>
            <a:ext cx="118872" cy="118872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57416" y="3401567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F2B"/>
                </a:solidFill>
                <a:latin typeface="Microsoft JhengHei"/>
              </a:rPr>
              <a:t>全國裁罰紀錄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57416" y="3694175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來源：全國教保資訊網裁罰查詢｜含日期/法條/罰鍰，即時解析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4123943"/>
            <a:ext cx="118872" cy="118872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7416" y="4059935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F2B"/>
                </a:solidFill>
                <a:latin typeface="Microsoft JhengHei"/>
              </a:rPr>
              <a:t>連接器 live_source.py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57416" y="4352543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load_live_dataset() 一鍵同步，UI 按鈕觸發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029200"/>
            <a:ext cx="10607040" cy="8229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120640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Microsoft JhengHei"/>
              </a:rPr>
              <a:t>為什麼雙軌？　</a:t>
            </a:r>
            <a:r>
              <a:rPr sz="1200" b="0">
                <a:solidFill>
                  <a:srgbClr val="5B6372"/>
                </a:solidFill>
                <a:latin typeface="Microsoft JhengHei"/>
              </a:rPr>
              <a:t>決算書需逐冊校對精抽才能做班佛檢定，適合靜態；基本資料/裁罰是結構化 JSON、量大時效敏感，適合動態即時串接。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C6E9B"/>
                </a:solidFill>
                <a:latin typeface="Microsoft JhengHei"/>
              </a:rPr>
              <a:t>第三章　資料　·　DATA ｜ 數據及資料運用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F2B"/>
                </a:solidFill>
                <a:latin typeface="Microsoft JhengHei"/>
              </a:rPr>
              <a:t>政府級韌性 + 誠實治理：外部源掛了也不倒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33856"/>
            <a:ext cx="10607040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5DBE3"/>
                </a:solidFill>
                <a:latin typeface="Microsoft JhengHe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F2B"/>
                </a:solidFill>
                <a:latin typeface="Microsoft JhengHei"/>
              </a:rPr>
              <a:t>三層備援 Fallback Chain（src/live_source.py）：</a:t>
            </a:r>
            <a:r>
              <a:rPr sz="1150" b="0">
                <a:solidFill>
                  <a:srgbClr val="5B6372"/>
                </a:solidFill>
                <a:latin typeface="Microsoft JhengHei"/>
              </a:rPr>
              <a:t>即時網路 → 本地快取 → 版控快照，任一層可用即回傳，FetchResult 誠實回報新鮮度。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336499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3364992" cy="457200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39112"/>
            <a:ext cx="3364992" cy="201168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828800"/>
            <a:ext cx="29992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① 即時網路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350008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F2B"/>
                </a:solidFill>
                <a:latin typeface="Microsoft JhengHei"/>
              </a:rPr>
              <a:t>抓取成功 → 寫本地快取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" y="2743200"/>
            <a:ext cx="2962656" cy="329184"/>
          </a:xfrm>
          <a:prstGeom prst="round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000" b="1">
                <a:solidFill>
                  <a:srgbClr val="1F4E79"/>
                </a:solidFill>
                <a:latin typeface="Microsoft JhengHei"/>
              </a:rPr>
              <a:t>is_live = True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8264" y="1783080"/>
            <a:ext cx="336499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98264" y="1783080"/>
            <a:ext cx="3364992" cy="457200"/>
          </a:xfrm>
          <a:prstGeom prst="round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2039112"/>
            <a:ext cx="3364992" cy="201168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4" y="1828800"/>
            <a:ext cx="29992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② 本地快取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350008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F2B"/>
                </a:solidFill>
                <a:latin typeface="Microsoft JhengHei"/>
              </a:rPr>
              <a:t>抓取失敗 → 退回最近快取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99432" y="2743200"/>
            <a:ext cx="2962656" cy="329184"/>
          </a:xfrm>
          <a:prstGeom prst="round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000" b="1">
                <a:solidFill>
                  <a:srgbClr val="1F4E79"/>
                </a:solidFill>
                <a:latin typeface="Microsoft JhengHei"/>
              </a:rPr>
              <a:t>used_fallback = True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9288" y="1783080"/>
            <a:ext cx="336499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19288" y="1783080"/>
            <a:ext cx="3364992" cy="457200"/>
          </a:xfrm>
          <a:prstGeom prst="roundRect">
            <a:avLst/>
          </a:prstGeom>
          <a:solidFill>
            <a:srgbClr val="2C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19288" y="2039112"/>
            <a:ext cx="3364992" cy="201168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1828800"/>
            <a:ext cx="29992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③ 版控快照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0456" y="2350008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F2B"/>
                </a:solidFill>
                <a:latin typeface="Microsoft JhengHei"/>
              </a:rPr>
              <a:t>GitHub Actions 每日更新進版控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0456" y="2743200"/>
            <a:ext cx="2962656" cy="329184"/>
          </a:xfrm>
          <a:prstGeom prst="round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000" b="1">
                <a:solidFill>
                  <a:srgbClr val="1F4E79"/>
                </a:solidFill>
                <a:latin typeface="Microsoft JhengHei"/>
              </a:rPr>
              <a:t>線上部署也讀得到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4290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F2B"/>
                </a:solidFill>
                <a:latin typeface="Microsoft JhengHei"/>
              </a:rPr>
              <a:t>實際運算成果（真實資料，非模擬）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3794760"/>
            <a:ext cx="2480310" cy="1051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3794760"/>
            <a:ext cx="248031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959352"/>
            <a:ext cx="24803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4E79"/>
                </a:solidFill>
                <a:latin typeface="Microsoft JhengHei"/>
              </a:rPr>
              <a:t>61 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" y="4453128"/>
            <a:ext cx="23340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Microsoft JhengHei"/>
              </a:rPr>
              <a:t>已完成鑑識會計評分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86150" y="3794760"/>
            <a:ext cx="2480310" cy="1051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86150" y="3794760"/>
            <a:ext cx="248031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86150" y="3959352"/>
            <a:ext cx="24803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4E79"/>
                </a:solidFill>
                <a:latin typeface="Microsoft JhengHei"/>
              </a:rPr>
              <a:t>1,114 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59302" y="4453128"/>
            <a:ext cx="23340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Microsoft JhengHei"/>
              </a:rPr>
              <a:t>全市納管基本資料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5060" y="3794760"/>
            <a:ext cx="2480310" cy="1051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5060" y="3794760"/>
            <a:ext cx="248031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5060" y="3959352"/>
            <a:ext cx="24803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4E79"/>
                </a:solidFill>
                <a:latin typeface="Microsoft JhengHei"/>
              </a:rPr>
              <a:t>2,838 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8212" y="4453128"/>
            <a:ext cx="23340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Microsoft JhengHei"/>
              </a:rPr>
              <a:t>真實裁罰動態串接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03970" y="3794760"/>
            <a:ext cx="2480310" cy="1051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03970" y="3794760"/>
            <a:ext cx="248031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03970" y="3959352"/>
            <a:ext cx="24803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4E79"/>
                </a:solidFill>
                <a:latin typeface="Microsoft JhengHei"/>
              </a:rPr>
              <a:t>7,688 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7122" y="4453128"/>
            <a:ext cx="23340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Microsoft JhengHei"/>
              </a:rPr>
              <a:t>全國機構名冊快照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5074920"/>
            <a:ext cx="336499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074920"/>
            <a:ext cx="82296" cy="109728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5202936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F2B"/>
                </a:solidFill>
                <a:latin typeface="Microsoft JhengHei"/>
              </a:rPr>
              <a:t>誠實三態標記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550408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Microsoft JhengHei"/>
              </a:rPr>
              <a:t>已確認 / 未確認 / 不適用；官方全量 API 未取得就標「未確認」，絕不虛構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98264" y="5074920"/>
            <a:ext cx="336499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98264" y="5074920"/>
            <a:ext cx="82296" cy="109728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26864" y="5202936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F2B"/>
                </a:solidFill>
                <a:latin typeface="Microsoft JhengHei"/>
              </a:rPr>
              <a:t>來源可追溯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26864" y="5550408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Microsoft JhengHei"/>
              </a:rPr>
              <a:t>動態源標註 g0v 整理 + 原始教育部，記錄抓取時間，上架前抽查核對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19288" y="5074920"/>
            <a:ext cx="336499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19288" y="5074920"/>
            <a:ext cx="82296" cy="10972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47888" y="5202936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F2B"/>
                </a:solidFill>
                <a:latin typeface="Microsoft JhengHei"/>
              </a:rPr>
              <a:t>責任 AI + 資安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47888" y="5550408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Microsoft JhengHei"/>
              </a:rPr>
              <a:t>風險 ≠ 違法；唯讀 GET 不外傳；金鑰放 .env，上傳前掃描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C6E9B"/>
                </a:solidFill>
                <a:latin typeface="Microsoft JhengHei"/>
              </a:rPr>
              <a:t>第三章　資料　·　DATA ｜ 輿情多來源分層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F2B"/>
                </a:solidFill>
                <a:latin typeface="Microsoft JhengHei"/>
              </a:rPr>
              <a:t>爬了哪些網站：新聞 × 社群 × 司法，事實與輿情分離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33856"/>
            <a:ext cx="10607040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5DBE3"/>
                </a:solidFill>
                <a:latin typeface="Microsoft JhengHe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Microsoft JhengHei"/>
              </a:rPr>
              <a:t>原則：</a:t>
            </a:r>
            <a:r>
              <a:rPr sz="1200" b="0">
                <a:solidFill>
                  <a:srgbClr val="5B6372"/>
                </a:solidFill>
                <a:latin typeface="Microsoft JhengHei"/>
              </a:rPr>
              <a:t>只抓公開、免登入來源（合規）；官方/判決確定＝事實層，新聞/社群＝輿情層，嚴格分離、不以輿情定罪。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20240"/>
            <a:ext cx="33528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920240"/>
            <a:ext cx="3352800" cy="658368"/>
          </a:xfrm>
          <a:prstGeom prst="round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350008"/>
            <a:ext cx="3352800" cy="228600"/>
          </a:xfrm>
          <a:prstGeom prst="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975104"/>
            <a:ext cx="289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新聞層　</a:t>
            </a:r>
            <a:r>
              <a:rPr sz="1100" b="1">
                <a:solidFill>
                  <a:srgbClr val="FFD97A"/>
                </a:solidFill>
                <a:latin typeface="Microsoft JhengHei"/>
              </a:rPr>
              <a:t>EVENT 事件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3272" y="2862072"/>
            <a:ext cx="91440" cy="91440"/>
          </a:xfrm>
          <a:prstGeom prst="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2788920"/>
            <a:ext cx="271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1F2B"/>
                </a:solidFill>
                <a:latin typeface="Microsoft JhengHei"/>
              </a:rPr>
              <a:t>Google News RSS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3272" y="3246120"/>
            <a:ext cx="91440" cy="91440"/>
          </a:xfrm>
          <a:prstGeom prst="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6152" y="3172968"/>
            <a:ext cx="271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1F2B"/>
                </a:solidFill>
                <a:latin typeface="Microsoft JhengHei"/>
              </a:rPr>
              <a:t>Bing News RSS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2" y="3630168"/>
            <a:ext cx="91440" cy="91440"/>
          </a:xfrm>
          <a:prstGeom prst="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6152" y="3557016"/>
            <a:ext cx="271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1F2B"/>
                </a:solidFill>
                <a:latin typeface="Microsoft JhengHei"/>
              </a:rPr>
              <a:t>自由時報 / 東森新聞雲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3272" y="4014216"/>
            <a:ext cx="91440" cy="91440"/>
          </a:xfrm>
          <a:prstGeom prst="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16152" y="3941064"/>
            <a:ext cx="271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1F2B"/>
                </a:solidFill>
                <a:latin typeface="Microsoft JhengHei"/>
              </a:rPr>
              <a:t>中央社 / 聯合報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3272" y="4398264"/>
            <a:ext cx="91440" cy="91440"/>
          </a:xfrm>
          <a:prstGeom prst="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16152" y="4325112"/>
            <a:ext cx="271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1F2B"/>
                </a:solidFill>
                <a:latin typeface="Microsoft JhengHei"/>
              </a:rPr>
              <a:t>鏡週刊 / Newtalk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696" y="4407408"/>
            <a:ext cx="2913888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498848"/>
            <a:ext cx="28407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E07B2B"/>
                </a:solidFill>
                <a:latin typeface="Microsoft JhengHei"/>
              </a:rPr>
              <a:t>合規：</a:t>
            </a:r>
            <a:r>
              <a:rPr sz="950" b="0">
                <a:solidFill>
                  <a:srgbClr val="5B6372"/>
                </a:solidFill>
                <a:latin typeface="Microsoft JhengHei"/>
              </a:rPr>
              <a:t>公開 RSS，免金鑰、免登入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04360" y="1920240"/>
            <a:ext cx="33528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04360" y="1920240"/>
            <a:ext cx="3352800" cy="658368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04360" y="2350008"/>
            <a:ext cx="3352800" cy="22860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2960" y="1975104"/>
            <a:ext cx="289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社群層　</a:t>
            </a:r>
            <a:r>
              <a:rPr sz="1100" b="1">
                <a:solidFill>
                  <a:srgbClr val="FFD97A"/>
                </a:solidFill>
                <a:latin typeface="Microsoft JhengHei"/>
              </a:rPr>
              <a:t>SENTIMENT 輿情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0392" y="2862072"/>
            <a:ext cx="91440" cy="9144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3272" y="2788920"/>
            <a:ext cx="271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1F2B"/>
                </a:solidFill>
                <a:latin typeface="Microsoft JhengHei"/>
              </a:rPr>
              <a:t>PTT BabyMother 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0392" y="3246120"/>
            <a:ext cx="91440" cy="9144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3272" y="3172968"/>
            <a:ext cx="271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1F2B"/>
                </a:solidFill>
                <a:latin typeface="Microsoft JhengHei"/>
              </a:rPr>
              <a:t>PTT BabyProducts 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0392" y="3630168"/>
            <a:ext cx="91440" cy="91440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3272" y="3557016"/>
            <a:ext cx="271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（以上公開看板已接入）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0392" y="4014216"/>
            <a:ext cx="91440" cy="9144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3272" y="3941064"/>
            <a:ext cx="271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1F2B"/>
                </a:solidFill>
                <a:latin typeface="Microsoft JhengHei"/>
              </a:rPr>
              <a:t>Dcard / FB / IG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0392" y="4398264"/>
            <a:ext cx="91440" cy="9144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3272" y="4325112"/>
            <a:ext cx="271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1F2B"/>
                </a:solidFill>
                <a:latin typeface="Microsoft JhengHei"/>
              </a:rPr>
              <a:t>Google 評論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23816" y="4407408"/>
            <a:ext cx="2913888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0392" y="4498848"/>
            <a:ext cx="28407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F8F5B"/>
                </a:solidFill>
                <a:latin typeface="Microsoft JhengHei"/>
              </a:rPr>
              <a:t>合規：</a:t>
            </a:r>
            <a:r>
              <a:rPr sz="950" b="0">
                <a:solidFill>
                  <a:srgbClr val="5B6372"/>
                </a:solidFill>
                <a:latin typeface="Microsoft JhengHei"/>
              </a:rPr>
              <a:t>PTT 公開看板已爬；Dcard/FB/IG 受登入牆限制，adapter 備援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31480" y="1920240"/>
            <a:ext cx="33528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031480" y="1920240"/>
            <a:ext cx="3352800" cy="65836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31480" y="2350008"/>
            <a:ext cx="3352800" cy="228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60080" y="1975104"/>
            <a:ext cx="289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事實層　</a:t>
            </a:r>
            <a:r>
              <a:rPr sz="1100" b="1">
                <a:solidFill>
                  <a:srgbClr val="FFD97A"/>
                </a:solidFill>
                <a:latin typeface="Microsoft JhengHei"/>
              </a:rPr>
              <a:t>FACT 事實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87512" y="2862072"/>
            <a:ext cx="91440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70392" y="2788920"/>
            <a:ext cx="271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1F2B"/>
                </a:solidFill>
                <a:latin typeface="Microsoft JhengHei"/>
              </a:rPr>
              <a:t>司法院裁判書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87512" y="3246120"/>
            <a:ext cx="91440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70392" y="3172968"/>
            <a:ext cx="271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1F2B"/>
                </a:solidFill>
                <a:latin typeface="Microsoft JhengHei"/>
              </a:rPr>
              <a:t>各級行政處分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87512" y="3630168"/>
            <a:ext cx="91440" cy="91440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70392" y="3557016"/>
            <a:ext cx="271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─────────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87512" y="4014216"/>
            <a:ext cx="91440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70392" y="3941064"/>
            <a:ext cx="271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1F2B"/>
                </a:solidFill>
                <a:latin typeface="Microsoft JhengHei"/>
              </a:rPr>
              <a:t>判決確定 → 事實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87512" y="4398264"/>
            <a:ext cx="91440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70392" y="4325112"/>
            <a:ext cx="271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1F2B"/>
                </a:solidFill>
                <a:latin typeface="Microsoft JhengHei"/>
              </a:rPr>
              <a:t>偵查/起訴中 → 過程(非有罪)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50936" y="4407408"/>
            <a:ext cx="2913888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87512" y="4498848"/>
            <a:ext cx="28407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4E79"/>
                </a:solidFill>
                <a:latin typeface="Microsoft JhengHei"/>
              </a:rPr>
              <a:t>合規：</a:t>
            </a:r>
            <a:r>
              <a:rPr sz="950" b="0">
                <a:solidFill>
                  <a:srgbClr val="5B6372"/>
                </a:solidFill>
                <a:latin typeface="Microsoft JhengHei"/>
              </a:rPr>
              <a:t>官方公開查詢；階段嚴格區分，不以起訴中定罪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" y="525780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Microsoft JhengHei"/>
              </a:rPr>
              <a:t>計分方式：</a:t>
            </a:r>
            <a:r>
              <a:rPr sz="1150" b="0">
                <a:solidFill>
                  <a:srgbClr val="5B6372"/>
                </a:solidFill>
                <a:latin typeface="Microsoft JhengHei"/>
              </a:rPr>
              <a:t>新聞 + PTT 兩條真實來源 → 白盒 NLP 判負面度 → neg_ratio → 輿情分項（權重 10%、貢獻上限 15 分）；查無訊號者中性不放大（責任 AI）。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C6E9B"/>
                </a:solidFill>
                <a:latin typeface="Microsoft JhengHei"/>
              </a:rPr>
              <a:t>第四章　架構　·　ARCHITECTURE ｜ AWS 雲端技術架構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F2B"/>
                </a:solidFill>
                <a:latin typeface="Microsoft JhengHei"/>
              </a:rPr>
              <a:t>資料 → 鑑識引擎 → 雙介面，AWS 全託管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33856"/>
            <a:ext cx="10607040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5DBE3"/>
                </a:solidFill>
                <a:latin typeface="Microsoft JhengHe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9601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82296" cy="9601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4356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Microsoft JhengHei"/>
              </a:rPr>
              <a:t>① 資料來源 DATA 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1700784"/>
            <a:ext cx="2286000" cy="530352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1792224"/>
            <a:ext cx="21396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公校決算書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1865376"/>
            <a:ext cx="217627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Microsoft JhengHei"/>
              </a:rPr>
              <a:t>PDF 文字層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59352" y="1700784"/>
            <a:ext cx="2286000" cy="530352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32504" y="1792224"/>
            <a:ext cx="21396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非營利園財報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4216" y="1865376"/>
            <a:ext cx="217627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Microsoft JhengHei"/>
              </a:rPr>
              <a:t>掃描影像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9944" y="1700784"/>
            <a:ext cx="2286000" cy="530352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792224"/>
            <a:ext cx="21396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裁罰／評鑑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1865376"/>
            <a:ext cx="217627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Microsoft JhengHei"/>
              </a:rPr>
              <a:t>全國教保資訊網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0536" y="1700784"/>
            <a:ext cx="2286000" cy="530352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33688" y="1792224"/>
            <a:ext cx="21396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網路輿情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1865376"/>
            <a:ext cx="217627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Microsoft JhengHei"/>
              </a:rPr>
              <a:t>新聞／社群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943600" y="2340864"/>
            <a:ext cx="274320" cy="164592"/>
          </a:xfrm>
          <a:prstGeom prst="downArrow">
            <a:avLst/>
          </a:prstGeom>
          <a:solidFill>
            <a:srgbClr val="EC9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2532888"/>
            <a:ext cx="10881360" cy="1280160"/>
          </a:xfrm>
          <a:prstGeom prst="roundRect">
            <a:avLst/>
          </a:prstGeom>
          <a:solidFill>
            <a:srgbClr val="FCF3E6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2532888"/>
            <a:ext cx="82296" cy="1280160"/>
          </a:xfrm>
          <a:prstGeom prst="rect">
            <a:avLst/>
          </a:prstGeom>
          <a:solidFill>
            <a:srgbClr val="EC9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25968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C912D"/>
                </a:solidFill>
                <a:latin typeface="Microsoft JhengHei"/>
              </a:rPr>
              <a:t>② AWS 雲端處理層 PROCESSING (boto3)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08760" y="2880360"/>
            <a:ext cx="2286000" cy="804672"/>
          </a:xfrm>
          <a:prstGeom prst="roundRect">
            <a:avLst/>
          </a:prstGeom>
          <a:solidFill>
            <a:srgbClr val="EC9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81912" y="2971800"/>
            <a:ext cx="21396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Amazon S3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63624" y="3319272"/>
            <a:ext cx="217627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Microsoft JhengHei"/>
              </a:rPr>
              <a:t>原始／衍生
資料儲存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59352" y="2880360"/>
            <a:ext cx="2286000" cy="804672"/>
          </a:xfrm>
          <a:prstGeom prst="roundRect">
            <a:avLst/>
          </a:prstGeom>
          <a:solidFill>
            <a:srgbClr val="EC9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2504" y="2971800"/>
            <a:ext cx="21396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Textract /
Tesseract OCR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14216" y="3319272"/>
            <a:ext cx="217627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Microsoft JhengHei"/>
              </a:rPr>
              <a:t>掃描財報
文字抽取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9944" y="2880360"/>
            <a:ext cx="2286000" cy="804672"/>
          </a:xfrm>
          <a:prstGeom prst="roundRect">
            <a:avLst/>
          </a:prstGeom>
          <a:solidFill>
            <a:srgbClr val="EC9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3096" y="2971800"/>
            <a:ext cx="21396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Amazon Bedrock
Claude Sonnet 4.5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8" y="3319272"/>
            <a:ext cx="217627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Microsoft JhengHei"/>
              </a:rPr>
              <a:t>多模態抽數字
+ 生成建議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0536" y="2880360"/>
            <a:ext cx="2286000" cy="804672"/>
          </a:xfrm>
          <a:prstGeom prst="roundRect">
            <a:avLst/>
          </a:prstGeom>
          <a:solidFill>
            <a:srgbClr val="EC9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33688" y="2971800"/>
            <a:ext cx="21396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EC2 + IAM Role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3319272"/>
            <a:ext cx="217627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Microsoft JhengHei"/>
              </a:rPr>
              <a:t>運算主機
免金鑰外洩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5943600" y="3822192"/>
            <a:ext cx="274320" cy="164592"/>
          </a:xfrm>
          <a:prstGeom prst="down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" y="4014216"/>
            <a:ext cx="10881360" cy="841248"/>
          </a:xfrm>
          <a:prstGeom prst="roundRect">
            <a:avLst/>
          </a:prstGeom>
          <a:solidFill>
            <a:srgbClr val="EAEEF3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" y="4014216"/>
            <a:ext cx="82296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4078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Microsoft JhengHei"/>
              </a:rPr>
              <a:t>③ 鑑識風險中台 CORE ENGINE (src/) — 行政 / 民眾共用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08760" y="4288536"/>
            <a:ext cx="1828800" cy="47548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81912" y="4379976"/>
            <a:ext cx="16824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鑑識會計
forensic.py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74720" y="4288536"/>
            <a:ext cx="1828800" cy="47548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47872" y="4379976"/>
            <a:ext cx="16824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白盒評分
risk_score.py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40680" y="4288536"/>
            <a:ext cx="1828800" cy="47548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13832" y="4379976"/>
            <a:ext cx="16824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證據鏈
evidence.py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06640" y="4288536"/>
            <a:ext cx="1828800" cy="47548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79792" y="4379976"/>
            <a:ext cx="16824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AI 報告
ai_report.py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72600" y="4288536"/>
            <a:ext cx="1828800" cy="47548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45752" y="4379976"/>
            <a:ext cx="16824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地理編碼
geocode.py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5943600" y="4864608"/>
            <a:ext cx="274320" cy="164592"/>
          </a:xfrm>
          <a:prstGeom prst="downArrow">
            <a:avLst/>
          </a:prstGeom>
          <a:solidFill>
            <a:srgbClr val="14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40080" y="5056632"/>
            <a:ext cx="5303520" cy="749808"/>
          </a:xfrm>
          <a:prstGeom prst="roundRect">
            <a:avLst/>
          </a:prstGeom>
          <a:solidFill>
            <a:srgbClr val="14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3232" y="5148072"/>
            <a:ext cx="515721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公務後台 :8601（稽查官）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" y="5440680"/>
            <a:ext cx="519379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Microsoft JhengHei"/>
              </a:rPr>
              <a:t>風險排名·雷達圖·案件流·派工·AI建議｜全欄位可見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17920" y="5056632"/>
            <a:ext cx="5303520" cy="749808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91072" y="5148072"/>
            <a:ext cx="515721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公眾查詢網 :8602（家長）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72784" y="5440680"/>
            <a:ext cx="519379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Microsoft JhengHei"/>
              </a:rPr>
              <a:t>找園·距離·收費·評鑑·輿情｜資料層移除風險欄位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5843016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4E79"/>
                </a:solidFill>
                <a:latin typeface="Microsoft JhengHei"/>
              </a:rPr>
              <a:t>同一中台、兩種權限投影：</a:t>
            </a:r>
            <a:r>
              <a:rPr sz="900" b="0">
                <a:solidFill>
                  <a:srgbClr val="5B6372"/>
                </a:solidFill>
                <a:latin typeface="Microsoft JhengHei"/>
              </a:rPr>
              <a:t>authorize_dataframe(df, ROLE_PARENT) 於資料層移除 risk_*，家長端根本拿不到風險分（非前端隱藏）　·　CI/CD：GitHub Actions push→main → EC2 self-hosted runner → systemd 常駐 + 健康檢查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C6E9B"/>
                </a:solidFill>
                <a:latin typeface="Microsoft JhengHei"/>
              </a:rPr>
              <a:t>第五章　操作　·　UI / FLOW ｜ 介面與操作流程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F2B"/>
                </a:solidFill>
                <a:latin typeface="Microsoft JhengHei"/>
              </a:rPr>
              <a:t>公務後台 :8601 — 稽查官的作戰工作台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33856"/>
            <a:ext cx="10607040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5DBE3"/>
                </a:solidFill>
                <a:latin typeface="Microsoft JhengHe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Microsoft JhengHei"/>
              </a:rPr>
              <a:t>使用者：</a:t>
            </a:r>
            <a:r>
              <a:rPr sz="1200" b="0">
                <a:solidFill>
                  <a:srgbClr val="5B6372"/>
                </a:solidFill>
                <a:latin typeface="Microsoft JhengHei"/>
              </a:rPr>
              <a:t>教育局 / 稽查員　｜　</a:t>
            </a:r>
            <a:r>
              <a:rPr sz="1200" b="1">
                <a:solidFill>
                  <a:srgbClr val="1A1F2B"/>
                </a:solidFill>
                <a:latin typeface="Microsoft JhengHei"/>
              </a:rPr>
              <a:t>動線：全局監控 → 下鑽單園 → 下決定 → 派工結案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336499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3364992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48840"/>
            <a:ext cx="3364992" cy="1828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1883664"/>
            <a:ext cx="299923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1  風險總覽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" y="2487168"/>
            <a:ext cx="29535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KPI 帶 + 完整排名表 + 各行政區風險組成堆疊圖，一眼看出該優先查誰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4" y="1828800"/>
            <a:ext cx="336499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98264" y="1828800"/>
            <a:ext cx="3364992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148840"/>
            <a:ext cx="3364992" cy="1828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83664"/>
            <a:ext cx="299923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2  風險地圖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487168"/>
            <a:ext cx="29535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Leaflet + OpenStreetMap，紅/黃/綠標記，排稽查路線精準投放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9288" y="1828800"/>
            <a:ext cx="336499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19288" y="1828800"/>
            <a:ext cx="3364992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2148840"/>
            <a:ext cx="3364992" cy="1828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1883664"/>
            <a:ext cx="299923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3  單園工作台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2487168"/>
            <a:ext cx="29535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雷達圖攤開四分項 + 證據鏈下鑽（分數→特徵→原始決算→PDF來源）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639312"/>
            <a:ext cx="336499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3639312"/>
            <a:ext cx="3364992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3959352"/>
            <a:ext cx="3364992" cy="1828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3694176"/>
            <a:ext cx="299923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4  AI 稽查建議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" y="4297680"/>
            <a:ext cx="29535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Bedrock 產出白話建議：這間該查什麼憑證，責任 AI 附來源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98264" y="3639312"/>
            <a:ext cx="336499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98264" y="3639312"/>
            <a:ext cx="3364992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98264" y="3959352"/>
            <a:ext cx="3364992" cy="1828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9432" y="3694176"/>
            <a:ext cx="299923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5  案件狀態流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297680"/>
            <a:ext cx="29535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待研判→建議派查→調查中→結案，附時間戳與稽核軌跡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19288" y="3639312"/>
            <a:ext cx="336499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19288" y="3639312"/>
            <a:ext cx="3364992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19288" y="3959352"/>
            <a:ext cx="3364992" cy="1828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0456" y="3694176"/>
            <a:ext cx="299923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6  派工 / 資料整合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38744" y="4297680"/>
            <a:ext cx="29535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排除已稽查、資料來源矩陣、模型鑑別力驗證、健康檢查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5440680"/>
            <a:ext cx="1737360" cy="457200"/>
          </a:xfrm>
          <a:prstGeom prst="round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待研判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14600" y="5440680"/>
            <a:ext cx="256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5B6372"/>
                </a:solidFill>
                <a:latin typeface="Microsoft JhengHe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70632" y="5440680"/>
            <a:ext cx="1737360" cy="457200"/>
          </a:xfrm>
          <a:prstGeom prst="round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建議派查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07992" y="5440680"/>
            <a:ext cx="256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5B6372"/>
                </a:solidFill>
                <a:latin typeface="Microsoft JhengHei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64024" y="5440680"/>
            <a:ext cx="1737360" cy="4572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調查中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01384" y="5440680"/>
            <a:ext cx="256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5B6372"/>
                </a:solidFill>
                <a:latin typeface="Microsoft JhengHei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757416" y="5440680"/>
            <a:ext cx="1737360" cy="457200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結案·屬實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94776" y="5440680"/>
            <a:ext cx="256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5B6372"/>
                </a:solidFill>
                <a:latin typeface="Microsoft JhengHei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50808" y="5440680"/>
            <a:ext cx="1737360" cy="457200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結案·不成立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C6E9B"/>
                </a:solidFill>
                <a:latin typeface="Microsoft JhengHei"/>
              </a:rPr>
              <a:t>第五章　操作　·　UI / FLOW ｜ 介面與操作流程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F2B"/>
                </a:solidFill>
                <a:latin typeface="Microsoft JhengHei"/>
              </a:rPr>
              <a:t>公眾查詢網 :8602 — 家長「安心找幼兒園」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33856"/>
            <a:ext cx="10607040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5DBE3"/>
                </a:solidFill>
                <a:latin typeface="Microsoft JhengHe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9844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F8F5B"/>
                </a:solidFill>
                <a:latin typeface="Microsoft JhengHei"/>
              </a:rPr>
              <a:t>使用者：</a:t>
            </a:r>
            <a:r>
              <a:rPr sz="1200" b="0">
                <a:solidFill>
                  <a:srgbClr val="5B6372"/>
                </a:solidFill>
                <a:latin typeface="Microsoft JhengHei"/>
              </a:rPr>
              <a:t>一般民眾 / 家長（無需登入）　｜　</a:t>
            </a:r>
            <a:r>
              <a:rPr sz="1200" b="1">
                <a:solidFill>
                  <a:srgbClr val="1A1F2B"/>
                </a:solidFill>
                <a:latin typeface="Microsoft JhengHei"/>
              </a:rPr>
              <a:t>與後台同一中台但資料層移除所有風險分數，家長端根本拿不到 risk_total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965960"/>
            <a:ext cx="82296" cy="105156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11226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F2B"/>
                </a:solidFill>
                <a:latin typeface="Microsoft JhengHei"/>
              </a:rPr>
              <a:t>距離近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5146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輸入地址 → Nominatim 定位 → 找鄰近幼兒園、地圖標點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5468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154680"/>
            <a:ext cx="82296" cy="105156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30098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F2B"/>
                </a:solidFill>
                <a:latin typeface="Microsoft JhengHei"/>
              </a:rPr>
              <a:t>看得懂學費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7033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公開收費揭露，透明比較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34340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343400"/>
            <a:ext cx="82296" cy="105156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48970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F2B"/>
                </a:solidFill>
                <a:latin typeface="Microsoft JhengHei"/>
              </a:rPr>
              <a:t>安全放心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8920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公開評鑑、裁罰狀態、輿情觀測（平靜期/有討論/值得留意）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965960"/>
            <a:ext cx="5120640" cy="34290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1965960"/>
            <a:ext cx="5120640" cy="502920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286000"/>
            <a:ext cx="5120640" cy="18288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設計原則：溫暖、誠實、不恐慌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6248" y="2770632"/>
            <a:ext cx="109728" cy="109728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2697480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F2B"/>
                </a:solidFill>
                <a:latin typeface="Microsoft JhengHei"/>
              </a:rPr>
              <a:t>不用後台「高/中/低風險」字眼，改用描述性「近期關注度」並附依據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6248" y="3300984"/>
            <a:ext cx="109728" cy="109728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3227832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F2B"/>
                </a:solidFill>
                <a:latin typeface="Microsoft JhengHei"/>
              </a:rPr>
              <a:t>地圖用柔和暖色階（非警報紅），避免造成家長不必要恐慌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6248" y="3831336"/>
            <a:ext cx="109728" cy="109728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3758184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F2B"/>
                </a:solidFill>
                <a:latin typeface="Microsoft JhengHei"/>
              </a:rPr>
              <a:t>輿情即時爬公開新聞 RSS，每則附原文連結與時間，可追溯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6248" y="4361688"/>
            <a:ext cx="109728" cy="109728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4288536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F2B"/>
                </a:solidFill>
                <a:latin typeface="Microsoft JhengHei"/>
              </a:rPr>
              <a:t>地址定位用 OpenStreetMap Nominatim（免金鑰，不用 Google Maps）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56248" y="4892040"/>
            <a:ext cx="109728" cy="109728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4818888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F2B"/>
                </a:solidFill>
                <a:latin typeface="Microsoft JhengHei"/>
              </a:rPr>
              <a:t>資料層 authorize_dataframe(df, ROLE_PARENT) 二次防禦，權限在資料層擋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FBEDC"/>
                </a:solidFill>
                <a:latin typeface="Microsoft JhengHei"/>
              </a:rPr>
              <a:t>第六章　結論　·　為什麼是我們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鑑識會計護城河 × 白盒可解釋 × 誠實可規模化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94560"/>
            <a:ext cx="5120640" cy="1371600"/>
          </a:xfrm>
          <a:prstGeom prst="roundRect">
            <a:avLst/>
          </a:prstGeom>
          <a:solidFill>
            <a:srgbClr val="244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94560"/>
            <a:ext cx="82296" cy="1371600"/>
          </a:xfrm>
          <a:prstGeom prst="rect">
            <a:avLst/>
          </a:prstGeom>
          <a:solidFill>
            <a:srgbClr val="FFD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D97A"/>
                </a:solidFill>
                <a:latin typeface="Microsoft JhengHei"/>
              </a:rPr>
              <a:t>護城河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98064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DDE7F1"/>
                </a:solidFill>
                <a:latin typeface="Microsoft JhengHei"/>
              </a:rPr>
              <a:t>鑑識會計多層方法，每層有文獻佐證。90% 隊伍不會講「鑑識會計」四個字。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94560"/>
            <a:ext cx="5120640" cy="1371600"/>
          </a:xfrm>
          <a:prstGeom prst="roundRect">
            <a:avLst/>
          </a:prstGeom>
          <a:solidFill>
            <a:srgbClr val="244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2194560"/>
            <a:ext cx="82296" cy="1371600"/>
          </a:xfrm>
          <a:prstGeom prst="rect">
            <a:avLst/>
          </a:prstGeom>
          <a:solidFill>
            <a:srgbClr val="FFD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377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D97A"/>
                </a:solidFill>
                <a:latin typeface="Microsoft JhengHei"/>
              </a:rPr>
              <a:t>政府敢用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798064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DDE7F1"/>
                </a:solidFill>
                <a:latin typeface="Microsoft JhengHei"/>
              </a:rPr>
              <a:t>白盒子分數可攤開拆解，責任 AI 全程「風險 ≠ 違法」附證據鏈，禁得起追問。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94760"/>
            <a:ext cx="5120640" cy="1371600"/>
          </a:xfrm>
          <a:prstGeom prst="roundRect">
            <a:avLst/>
          </a:prstGeom>
          <a:solidFill>
            <a:srgbClr val="244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794760"/>
            <a:ext cx="82296" cy="1371600"/>
          </a:xfrm>
          <a:prstGeom prst="rect">
            <a:avLst/>
          </a:prstGeom>
          <a:solidFill>
            <a:srgbClr val="FFD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9776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D97A"/>
                </a:solidFill>
                <a:latin typeface="Microsoft JhengHei"/>
              </a:rPr>
              <a:t>真的能跑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398264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DDE7F1"/>
                </a:solidFill>
                <a:latin typeface="Microsoft JhengHei"/>
              </a:rPr>
              <a:t>雙 app live on AWS EC2、61 間實測評分、AUC 0.906，Demo 當場可操作。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94760"/>
            <a:ext cx="5120640" cy="1371600"/>
          </a:xfrm>
          <a:prstGeom prst="roundRect">
            <a:avLst/>
          </a:prstGeom>
          <a:solidFill>
            <a:srgbClr val="244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794760"/>
            <a:ext cx="82296" cy="1371600"/>
          </a:xfrm>
          <a:prstGeom prst="rect">
            <a:avLst/>
          </a:prstGeom>
          <a:solidFill>
            <a:srgbClr val="FFD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9776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D97A"/>
                </a:solidFill>
                <a:latin typeface="Microsoft JhengHei"/>
              </a:rPr>
              <a:t>誠實可擴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398264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DDE7F1"/>
                </a:solidFill>
                <a:latin typeface="Microsoft JhengHei"/>
              </a:rPr>
              <a:t>抽樣深度 61 間 + 全市涵蓋 1,114 間，資料三態標示，架構可規模化至全市。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064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小小守護員 Smart Watchdog</a:t>
            </a:r>
            <a:r>
              <a:rPr sz="1400" b="0">
                <a:solidFill>
                  <a:srgbClr val="B9CADD"/>
                </a:solidFill>
                <a:latin typeface="Microsoft JhengHei"/>
              </a:rPr>
              <a:t>　｜　讓事後被動稽查，提前為事前主動示警。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