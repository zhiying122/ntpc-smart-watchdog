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24FD3-816F-4F1C-B877-36B49B8BBC9C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4FA86-3CC8-45EC-BC45-D3C67A4D36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947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4FA86-3CC8-45EC-BC45-D3C67A4D36B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802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5303520" cy="384048"/>
          </a:xfrm>
          <a:prstGeom prst="roundRect">
            <a:avLst/>
          </a:prstGeom>
          <a:solidFill>
            <a:srgbClr val="1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5303520" cy="384048"/>
          </a:xfrm>
          <a:prstGeom prst="rect">
            <a:avLst/>
          </a:prstGeom>
          <a:noFill/>
        </p:spPr>
        <p:txBody>
          <a:bodyPr wrap="square" lIns="6" rIns="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2026 新北市 AI 智慧城市黑客松競賽｜教育局組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小小守護員</a:t>
            </a:r>
            <a:r>
              <a:rPr sz="3400" b="1">
                <a:solidFill>
                  <a:srgbClr val="7BB0E6"/>
                </a:solidFill>
                <a:latin typeface="Microsoft JhengHei"/>
              </a:rPr>
              <a:t> Smart Watchdog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2EBF5"/>
                </a:solidFill>
                <a:latin typeface="Microsoft JhengHei"/>
              </a:rPr>
              <a:t>AI × 鑑識會計，讓幼兒園安全風險提前被看見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07040" cy="914400"/>
          </a:xfrm>
          <a:prstGeom prst="roundRect">
            <a:avLst/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FE8F4"/>
                </a:solidFill>
                <a:latin typeface="Microsoft JhengHei"/>
              </a:rPr>
              <a:t>我們不是做一個風險分數表，而是做一個能真正幫稽查人員提前判斷、派工與查核的 AI 稽查官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8DDF3"/>
                </a:solidFill>
                <a:latin typeface="Microsoft JhengHei"/>
              </a:rPr>
              <a:t>公務後台: http://18.236.246.233:8601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  ｜  </a:t>
            </a:r>
            <a:r>
              <a:rPr sz="1400" b="1">
                <a:solidFill>
                  <a:srgbClr val="C8DDF3"/>
                </a:solidFill>
                <a:latin typeface="Microsoft JhengHei"/>
              </a:rPr>
              <a:t>公眾查詢網: http://18.236.246.233:8602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問題意識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我想問的，不只是「有沒有問題」，而是「什麼時候該先察覺」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973"/>
                </a:solidFill>
                <a:latin typeface="Microsoft JhengHei"/>
              </a:rPr>
              <a:t>我們觀察到，近年幼兒園安全事件與照顧品質問題的討論頻繁，而風險很可能與經費壓力、師資不足、照護過載有關聯。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011680"/>
            <a:ext cx="128016" cy="1097280"/>
          </a:xfrm>
          <a:prstGeom prst="rect">
            <a:avLst/>
          </a:prstGeom>
          <a:solidFill>
            <a:srgbClr val="D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17627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經費不足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6060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973"/>
                </a:solidFill>
                <a:latin typeface="Microsoft JhengHei"/>
              </a:rPr>
              <a:t>人力/設備不足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80360" y="2423160"/>
            <a:ext cx="246888" cy="164592"/>
          </a:xfrm>
          <a:prstGeom prst="rightArrow">
            <a:avLst/>
          </a:prstGeom>
          <a:solidFill>
            <a:srgbClr val="D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00400" y="201168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0" y="2011680"/>
            <a:ext cx="128016" cy="1097280"/>
          </a:xfrm>
          <a:prstGeom prst="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6432" y="217627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老師與照護人力不足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6060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973"/>
                </a:solidFill>
                <a:latin typeface="Microsoft JhengHei"/>
              </a:rPr>
              <a:t>照顧過載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57800" y="2423160"/>
            <a:ext cx="246888" cy="164592"/>
          </a:xfrm>
          <a:prstGeom prst="rightArrow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77840" y="201168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77840" y="2011680"/>
            <a:ext cx="128016" cy="109728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33872" y="217627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系統性監督失效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26060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973"/>
                </a:solidFill>
                <a:latin typeface="Microsoft JhengHei"/>
              </a:rPr>
              <a:t>風險被放大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635240" y="2423160"/>
            <a:ext cx="246888" cy="164592"/>
          </a:xfrm>
          <a:prstGeom prst="rightArrow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55280" y="201168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E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5280" y="2011680"/>
            <a:ext cx="128016" cy="1097280"/>
          </a:xfrm>
          <a:prstGeom prst="rect">
            <a:avLst/>
          </a:prstGeom>
          <a:solidFill>
            <a:srgbClr val="5E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1312" y="217627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兒童安全與照護風險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26060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973"/>
                </a:solidFill>
                <a:latin typeface="Microsoft JhengHei"/>
              </a:rPr>
              <a:t>需提前預警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9476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5C9F"/>
                </a:solidFill>
                <a:latin typeface="Microsoft JhengHei"/>
              </a:rPr>
              <a:t>這不是在說「財務不好就一定有問題」；而是：財務與人力壓力，常是較早出現的前兆訊號。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343400"/>
            <a:ext cx="33832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4343400"/>
            <a:ext cx="3383280" cy="9144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52628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經費壓力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基金短絀、收入與支出失衡，可能反映機構承壓程度；我們把它當成重要警訊。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343400"/>
            <a:ext cx="33832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89120" y="4343400"/>
            <a:ext cx="3383280" cy="91440"/>
          </a:xfrm>
          <a:prstGeom prst="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452628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師資不足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9834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照顧人力不足可能增加細節漏失、壓力與失控風險。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4343400"/>
            <a:ext cx="33832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01000" y="4343400"/>
            <a:ext cx="3383280" cy="9144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83879" y="452628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監理資料分散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49834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決算、收費、評鑑、裁罰、新聞各自散落，缺少整合視角。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痛點與切入點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現在的問題不是缺資料，而是缺一個可執行的風險前置工具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128016" cy="1371600"/>
          </a:xfrm>
          <a:prstGeom prst="rect">
            <a:avLst/>
          </a:prstGeom>
          <a:solidFill>
            <a:srgbClr val="D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3C3C"/>
                </a:solidFill>
                <a:latin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719072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資料散落：決算、評鑑、裁罰、收費、新聞不是同一張表。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5544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59" y="1554480"/>
            <a:ext cx="128016" cy="1371600"/>
          </a:xfrm>
          <a:prstGeom prst="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7A35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719072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稽查人力有限：全市機構多，無法逐一做深度人工檢查。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128016" cy="137160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363931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342"/>
                </a:solidFill>
                <a:latin typeface="Microsoft Jheng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639312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風險分數不透明：若只是黑盒，不敢在政府部門裡被責問。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4747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59" y="3474720"/>
            <a:ext cx="128016" cy="137160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363931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B8C5A"/>
                </a:solidFill>
                <a:latin typeface="Microsoft Jheng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639312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部門需要決策依據：不是只知道「有問題」，而是知道「先查誰」。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5C9F"/>
                </a:solidFill>
                <a:latin typeface="Microsoft JhengHei"/>
              </a:rPr>
              <a:t>所以我們做的，不是「AI 直接判定誰違法」，而是：用可解釋的風險評分讓稽查員先知道誰值得查、查什麼、怎麼派工。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解決方案說明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三步驟：抓資料 → 算風險 → 派人去勘查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3474720" cy="64008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抓資料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517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整合公校決算、非營利園財報、裁罰、評鑑、公開新聞、PTT 討論與地理資訊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80560"/>
            <a:ext cx="2651760" cy="411480"/>
          </a:xfrm>
          <a:prstGeom prst="round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480560"/>
            <a:ext cx="2651760" cy="411480"/>
          </a:xfrm>
          <a:prstGeom prst="rect">
            <a:avLst/>
          </a:prstGeom>
          <a:noFill/>
        </p:spPr>
        <p:txBody>
          <a:bodyPr wrap="square" lIns="6" rIns="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核心價值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64592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1645920"/>
            <a:ext cx="3474720" cy="640080"/>
          </a:xfrm>
          <a:prstGeom prst="rect">
            <a:avLst/>
          </a:prstGeom>
          <a:solidFill>
            <a:srgbClr val="38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1828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算風險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6517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用鑑識會計與白盒規則，計算財務異常、裁罰、評鑑、輿情四項分數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4480560"/>
            <a:ext cx="2651760" cy="411480"/>
          </a:xfrm>
          <a:prstGeom prst="roundRect">
            <a:avLst/>
          </a:prstGeom>
          <a:solidFill>
            <a:srgbClr val="38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4480560"/>
            <a:ext cx="2651760" cy="411480"/>
          </a:xfrm>
          <a:prstGeom prst="rect">
            <a:avLst/>
          </a:prstGeom>
          <a:noFill/>
        </p:spPr>
        <p:txBody>
          <a:bodyPr wrap="square" lIns="6" rIns="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核心價值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64592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1645920"/>
            <a:ext cx="3474720" cy="64008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9640" y="1828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派人勘查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6517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依風險總分與分區/已查狀態進行排序，讓每位稽查員投入最需要的人力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4480560"/>
            <a:ext cx="2651760" cy="411480"/>
          </a:xfrm>
          <a:prstGeom prst="round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41080" y="4480560"/>
            <a:ext cx="2651760" cy="411480"/>
          </a:xfrm>
          <a:prstGeom prst="rect">
            <a:avLst/>
          </a:prstGeom>
          <a:noFill/>
        </p:spPr>
        <p:txBody>
          <a:bodyPr wrap="square" lIns="6" rIns="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核心價值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5C9F"/>
                </a:solidFill>
                <a:latin typeface="Microsoft JhengHei"/>
              </a:rPr>
              <a:t>這個系統的核心不是替代人，而是把稽查人員變成高效率的決策者：先看高風險、再看證據、最後出任務。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數據及資料運用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132338"/>
                </a:solidFill>
                <a:latin typeface="Microsoft JhengHei"/>
              </a:rPr>
              <a:t>靜態資料</a:t>
            </a:r>
            <a:r>
              <a:rPr sz="2200" b="1" dirty="0">
                <a:solidFill>
                  <a:srgbClr val="132338"/>
                </a:solidFill>
                <a:latin typeface="Microsoft JhengHei"/>
              </a:rPr>
              <a:t> × </a:t>
            </a:r>
            <a:r>
              <a:rPr sz="2200" b="1" dirty="0" err="1">
                <a:solidFill>
                  <a:srgbClr val="132338"/>
                </a:solidFill>
                <a:latin typeface="Microsoft JhengHei"/>
              </a:rPr>
              <a:t>動態資料</a:t>
            </a:r>
            <a:r>
              <a:rPr sz="2200" b="1" dirty="0">
                <a:solidFill>
                  <a:srgbClr val="132338"/>
                </a:solidFill>
                <a:latin typeface="Microsoft JhengHei"/>
              </a:rPr>
              <a:t> × </a:t>
            </a:r>
            <a:r>
              <a:rPr sz="2200" b="1" dirty="0" err="1">
                <a:solidFill>
                  <a:srgbClr val="132338"/>
                </a:solidFill>
                <a:latin typeface="Microsoft JhengHei"/>
              </a:rPr>
              <a:t>輿情資料，真正形成完整風險圖譜</a:t>
            </a:r>
            <a:endParaRPr sz="2200" b="1" dirty="0">
              <a:solidFill>
                <a:srgbClr val="132338"/>
              </a:solidFill>
              <a:latin typeface="Microsoft Jheng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3035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325880"/>
            <a:ext cx="5303520" cy="54864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52704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FFFFFF"/>
                </a:solidFill>
                <a:latin typeface="Microsoft JhengHei"/>
              </a:rPr>
              <a:t>靜態資料：官方事實資料</a:t>
            </a:r>
            <a:endParaRPr sz="18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0120" y="233172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231343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公校決算書</a:t>
            </a:r>
            <a:r>
              <a:rPr sz="1080" b="0" dirty="0">
                <a:solidFill>
                  <a:srgbClr val="5E6973"/>
                </a:solidFill>
                <a:latin typeface="Microsoft JhengHei"/>
              </a:rPr>
              <a:t> </a:t>
            </a: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PDF：逐筆明細供班佛定律、收益</a:t>
            </a:r>
            <a:r>
              <a:rPr sz="1080" b="0" dirty="0">
                <a:solidFill>
                  <a:srgbClr val="5E6973"/>
                </a:solidFill>
                <a:latin typeface="Microsoft JhengHei"/>
              </a:rPr>
              <a:t>/</a:t>
            </a: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支出結構、基金檢核</a:t>
            </a:r>
            <a:endParaRPr sz="10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60120" y="2990087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2971799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非營利幼兒園財報：OCR</a:t>
            </a:r>
            <a:r>
              <a:rPr sz="1080" b="0" dirty="0">
                <a:solidFill>
                  <a:srgbClr val="5E6973"/>
                </a:solidFill>
                <a:latin typeface="Microsoft JhengHei"/>
              </a:rPr>
              <a:t> </a:t>
            </a: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抽取收入、支出、基金餘額、跨年度趨勢</a:t>
            </a:r>
            <a:endParaRPr sz="10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60120" y="3648456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363016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評鑑資料：優</a:t>
            </a:r>
            <a:r>
              <a:rPr sz="1080" b="0" dirty="0">
                <a:solidFill>
                  <a:srgbClr val="5E6973"/>
                </a:solidFill>
                <a:latin typeface="Microsoft JhengHei"/>
              </a:rPr>
              <a:t>/良/中/</a:t>
            </a: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待改進等官方等級，作為照護品質基線</a:t>
            </a:r>
            <a:endParaRPr sz="10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60120" y="4306824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61872" y="4288536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裁罰紀錄：違規次數、違反項目、官方處分內容，作為安全事件證據</a:t>
            </a:r>
            <a:endParaRPr sz="10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09360" y="132588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5212080" cy="54864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52704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FFFFFF"/>
                </a:solidFill>
                <a:latin typeface="Microsoft JhengHei"/>
              </a:rPr>
              <a:t>動態與輿情資料：風險警示層</a:t>
            </a:r>
            <a:endParaRPr sz="18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65392" y="233172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231343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全國教保資訊網：機構基本資料、收費、裁罰、評鑑與更新狀態</a:t>
            </a:r>
            <a:endParaRPr sz="10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65392" y="2990087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2971799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新聞</a:t>
            </a:r>
            <a:r>
              <a:rPr sz="1080" b="0" dirty="0">
                <a:solidFill>
                  <a:srgbClr val="5E6973"/>
                </a:solidFill>
                <a:latin typeface="Microsoft JhengHei"/>
              </a:rPr>
              <a:t>/</a:t>
            </a: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媒體</a:t>
            </a:r>
            <a:r>
              <a:rPr sz="1080" b="0" dirty="0">
                <a:solidFill>
                  <a:srgbClr val="5E6973"/>
                </a:solidFill>
                <a:latin typeface="Microsoft JhengHei"/>
              </a:rPr>
              <a:t> </a:t>
            </a: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RSS：Google</a:t>
            </a:r>
            <a:r>
              <a:rPr sz="1080" b="0" dirty="0">
                <a:solidFill>
                  <a:srgbClr val="5E6973"/>
                </a:solidFill>
                <a:latin typeface="Microsoft JhengHei"/>
              </a:rPr>
              <a:t> News / Bing News / </a:t>
            </a: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政策報導，追蹤負面事件</a:t>
            </a:r>
            <a:endParaRPr sz="10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565392" y="3648456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363016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PTT、社群討論：家長與社會關注度，做為風險提示而非直接定罪</a:t>
            </a:r>
            <a:endParaRPr sz="10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65392" y="4306824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4288536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dirty="0" err="1">
                <a:solidFill>
                  <a:srgbClr val="5E6973"/>
                </a:solidFill>
                <a:latin typeface="Microsoft JhengHei"/>
              </a:rPr>
              <a:t>資料快取與歷史快照：確保異常事件、版本差異可回溯與審計</a:t>
            </a:r>
            <a:endParaRPr sz="10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20" y="52578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2A5C9F"/>
                </a:solidFill>
                <a:latin typeface="Microsoft JhengHei"/>
              </a:rPr>
              <a:t>設計原則：官方資料負責『證據</a:t>
            </a:r>
            <a:r>
              <a:rPr sz="1300" b="1" dirty="0">
                <a:solidFill>
                  <a:srgbClr val="2A5C9F"/>
                </a:solidFill>
                <a:latin typeface="Microsoft JhengHei"/>
              </a:rPr>
              <a:t>』，</a:t>
            </a:r>
            <a:r>
              <a:rPr sz="1300" b="1" dirty="0" err="1">
                <a:solidFill>
                  <a:srgbClr val="2A5C9F"/>
                </a:solidFill>
                <a:latin typeface="Microsoft JhengHei"/>
              </a:rPr>
              <a:t>新聞與輿情負責『警示</a:t>
            </a:r>
            <a:r>
              <a:rPr sz="1300" b="1" dirty="0">
                <a:solidFill>
                  <a:srgbClr val="2A5C9F"/>
                </a:solidFill>
                <a:latin typeface="Microsoft JhengHei"/>
              </a:rPr>
              <a:t>』；</a:t>
            </a:r>
            <a:r>
              <a:rPr sz="1300" b="1" dirty="0" err="1">
                <a:solidFill>
                  <a:srgbClr val="2A5C9F"/>
                </a:solidFill>
                <a:latin typeface="Microsoft JhengHei"/>
              </a:rPr>
              <a:t>二者分層處理，避免單一來源誤導決策</a:t>
            </a:r>
            <a:r>
              <a:rPr sz="1300" b="1" dirty="0">
                <a:solidFill>
                  <a:srgbClr val="2A5C9F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分數怎麼算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132338"/>
                </a:solidFill>
                <a:latin typeface="Microsoft JhengHei"/>
              </a:rPr>
              <a:t>白盒風險分數：每一分都可以講得清楚</a:t>
            </a:r>
            <a:endParaRPr sz="2200" b="1" dirty="0">
              <a:solidFill>
                <a:srgbClr val="132338"/>
              </a:solidFill>
              <a:latin typeface="Microsoft Jheng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94960" cy="3108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32338"/>
                </a:solidFill>
                <a:latin typeface="Microsoft JhengHei"/>
              </a:rPr>
              <a:t>總風險分</a:t>
            </a:r>
            <a:r>
              <a:rPr sz="1600" b="1" dirty="0">
                <a:solidFill>
                  <a:srgbClr val="132338"/>
                </a:solidFill>
                <a:latin typeface="Microsoft JhengHei"/>
              </a:rPr>
              <a:t> = </a:t>
            </a:r>
            <a:r>
              <a:rPr sz="1600" b="1" dirty="0" err="1">
                <a:solidFill>
                  <a:srgbClr val="132338"/>
                </a:solidFill>
                <a:latin typeface="Microsoft JhengHei"/>
              </a:rPr>
              <a:t>財務異常</a:t>
            </a:r>
            <a:r>
              <a:rPr sz="1600" b="1" dirty="0">
                <a:solidFill>
                  <a:srgbClr val="132338"/>
                </a:solidFill>
                <a:latin typeface="Microsoft JhengHei"/>
              </a:rPr>
              <a:t> × 45% + </a:t>
            </a:r>
            <a:r>
              <a:rPr sz="1600" b="1" dirty="0" err="1">
                <a:solidFill>
                  <a:srgbClr val="132338"/>
                </a:solidFill>
                <a:latin typeface="Microsoft JhengHei"/>
              </a:rPr>
              <a:t>裁罰紀錄</a:t>
            </a:r>
            <a:r>
              <a:rPr sz="1600" b="1" dirty="0">
                <a:solidFill>
                  <a:srgbClr val="132338"/>
                </a:solidFill>
                <a:latin typeface="Microsoft JhengHei"/>
              </a:rPr>
              <a:t> × 30% + </a:t>
            </a:r>
            <a:r>
              <a:rPr sz="1600" b="1" dirty="0" err="1">
                <a:solidFill>
                  <a:srgbClr val="132338"/>
                </a:solidFill>
                <a:latin typeface="Microsoft JhengHei"/>
              </a:rPr>
              <a:t>評鑑</a:t>
            </a:r>
            <a:r>
              <a:rPr sz="1600" b="1" dirty="0">
                <a:solidFill>
                  <a:srgbClr val="132338"/>
                </a:solidFill>
                <a:latin typeface="Microsoft JhengHei"/>
              </a:rPr>
              <a:t> × 15% + </a:t>
            </a:r>
            <a:r>
              <a:rPr sz="1600" b="1" dirty="0" err="1">
                <a:solidFill>
                  <a:srgbClr val="132338"/>
                </a:solidFill>
                <a:latin typeface="Microsoft JhengHei"/>
              </a:rPr>
              <a:t>輿情</a:t>
            </a:r>
            <a:r>
              <a:rPr sz="1600" b="1" dirty="0">
                <a:solidFill>
                  <a:srgbClr val="132338"/>
                </a:solidFill>
                <a:latin typeface="Microsoft JhengHei"/>
              </a:rPr>
              <a:t> × 10%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40280"/>
            <a:ext cx="164592" cy="164592"/>
          </a:xfrm>
          <a:prstGeom prst="rect">
            <a:avLst/>
          </a:prstGeom>
          <a:solidFill>
            <a:srgbClr val="D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2219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132338"/>
                </a:solidFill>
                <a:latin typeface="Microsoft JhengHei"/>
              </a:rPr>
              <a:t>財務異常</a:t>
            </a:r>
            <a:endParaRPr sz="1200" b="1" dirty="0">
              <a:solidFill>
                <a:srgbClr val="132338"/>
              </a:solidFill>
              <a:latin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22219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3C3C"/>
                </a:solidFill>
                <a:latin typeface="Microsoft JhengHei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219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dirty="0" err="1">
                <a:solidFill>
                  <a:srgbClr val="5E6973"/>
                </a:solidFill>
                <a:latin typeface="Microsoft JhengHei"/>
              </a:rPr>
              <a:t>Benford、Beneish、Altman、Isolation</a:t>
            </a:r>
            <a:r>
              <a:rPr sz="980" b="0" dirty="0">
                <a:solidFill>
                  <a:srgbClr val="5E6973"/>
                </a:solidFill>
                <a:latin typeface="Microsoft JhengHei"/>
              </a:rPr>
              <a:t> </a:t>
            </a:r>
            <a:r>
              <a:rPr sz="980" b="0" dirty="0" err="1">
                <a:solidFill>
                  <a:srgbClr val="5E6973"/>
                </a:solidFill>
                <a:latin typeface="Microsoft JhengHei"/>
              </a:rPr>
              <a:t>Forest、收支比等多層檢查</a:t>
            </a:r>
            <a:endParaRPr sz="9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898648"/>
            <a:ext cx="164592" cy="164592"/>
          </a:xfrm>
          <a:prstGeom prst="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2880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132338"/>
                </a:solidFill>
                <a:latin typeface="Microsoft JhengHei"/>
              </a:rPr>
              <a:t>裁罰紀錄</a:t>
            </a:r>
            <a:endParaRPr sz="1200" b="1" dirty="0">
              <a:solidFill>
                <a:srgbClr val="132338"/>
              </a:solidFill>
              <a:latin typeface="Microsoft Jheng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28803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7A35"/>
                </a:solidFill>
                <a:latin typeface="Microsoft JhengHei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dirty="0" err="1">
                <a:solidFill>
                  <a:srgbClr val="5E6973"/>
                </a:solidFill>
                <a:latin typeface="Microsoft JhengHei"/>
              </a:rPr>
              <a:t>重點看違反性質與頻率；僅有明細時採破窗效應計分</a:t>
            </a:r>
            <a:endParaRPr sz="9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3557016"/>
            <a:ext cx="164592" cy="164592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35387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132338"/>
                </a:solidFill>
                <a:latin typeface="Microsoft JhengHei"/>
              </a:rPr>
              <a:t>評鑑結果</a:t>
            </a:r>
            <a:endParaRPr sz="1200" b="1" dirty="0">
              <a:solidFill>
                <a:srgbClr val="132338"/>
              </a:solidFill>
              <a:latin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68880" y="35387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342"/>
                </a:solidFill>
                <a:latin typeface="Microsoft JhengHe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5387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dirty="0">
                <a:solidFill>
                  <a:srgbClr val="5E6973"/>
                </a:solidFill>
                <a:latin typeface="Microsoft JhengHei"/>
              </a:rPr>
              <a:t>優/良/乙/</a:t>
            </a:r>
            <a:r>
              <a:rPr sz="980" b="0" dirty="0" err="1">
                <a:solidFill>
                  <a:srgbClr val="5E6973"/>
                </a:solidFill>
                <a:latin typeface="Microsoft JhengHei"/>
              </a:rPr>
              <a:t>待改進，缺資料則以中性值處理</a:t>
            </a:r>
            <a:endParaRPr sz="9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4215384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4197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132338"/>
                </a:solidFill>
                <a:latin typeface="Microsoft JhengHei"/>
              </a:rPr>
              <a:t>網路輿情</a:t>
            </a:r>
            <a:endParaRPr sz="1200" b="1" dirty="0">
              <a:solidFill>
                <a:srgbClr val="132338"/>
              </a:solidFill>
              <a:latin typeface="Microsoft Jheng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68880" y="419709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B8C5A"/>
                </a:solidFill>
                <a:latin typeface="Microsoft JhengHei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1970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dirty="0" err="1">
                <a:solidFill>
                  <a:srgbClr val="5E6973"/>
                </a:solidFill>
                <a:latin typeface="Microsoft JhengHei"/>
              </a:rPr>
              <a:t>新聞與PTT負面程度，查無訊號不放大風險</a:t>
            </a:r>
            <a:endParaRPr sz="98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92240" y="1645920"/>
            <a:ext cx="4846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20116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32338"/>
                </a:solidFill>
                <a:latin typeface="Microsoft JhengHei"/>
              </a:rPr>
              <a:t>實例：林口幼兒園</a:t>
            </a:r>
            <a:r>
              <a:rPr sz="1600" b="1" dirty="0">
                <a:solidFill>
                  <a:srgbClr val="132338"/>
                </a:solidFill>
                <a:latin typeface="Microsoft JhengHei"/>
              </a:rPr>
              <a:t> 59.0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6517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財務異常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480" y="265176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5E6973"/>
                </a:solidFill>
                <a:latin typeface="Microsoft JhengHei"/>
              </a:rPr>
              <a:t>53.4 × 0.45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6517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3C3C"/>
                </a:solidFill>
                <a:latin typeface="Microsoft JhengHei"/>
              </a:rPr>
              <a:t>24.0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1546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裁罰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12480" y="315468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5E6973"/>
                </a:solidFill>
                <a:latin typeface="Microsoft JhengHei"/>
              </a:rPr>
              <a:t>90 × 0.30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1546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3C3C"/>
                </a:solidFill>
                <a:latin typeface="Microsoft JhengHei"/>
              </a:rPr>
              <a:t>27.0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評鑑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12480" y="365760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5E6973"/>
                </a:solidFill>
                <a:latin typeface="Microsoft JhengHei"/>
              </a:rPr>
              <a:t>40 × 0.15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657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3C3C"/>
                </a:solidFill>
                <a:latin typeface="Microsoft JhengHei"/>
              </a:rPr>
              <a:t>6.0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605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輿情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12480" y="416052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5E6973"/>
                </a:solidFill>
                <a:latin typeface="Microsoft JhengHei"/>
              </a:rPr>
              <a:t>20 × 0.10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416052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3C3C"/>
                </a:solidFill>
                <a:latin typeface="Microsoft JhengHei"/>
              </a:rPr>
              <a:t>2.0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5029200"/>
            <a:ext cx="420624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0" y="51663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338"/>
                </a:solidFill>
                <a:latin typeface="Microsoft JhengHei"/>
              </a:rPr>
              <a:t>總分 = 59.0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166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3C3C"/>
                </a:solidFill>
                <a:latin typeface="Microsoft JhengHei"/>
              </a:rPr>
              <a:t>高風險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如何派人去勘查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不是把所有人都查，而是讓高風險機構先被選中，且保證公平與可追溯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5C9F"/>
                </a:solidFill>
                <a:latin typeface="Microsoft JhengHei"/>
              </a:rPr>
              <a:t>派工核心目標：在有限稽查人力中，選出能最大化風險覆蓋的機構；若同風險則按照固定規則排隊，不讓系統隨機。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2377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011680"/>
            <a:ext cx="2377440" cy="45720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3464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排除已稽查機構與不符合區域限制者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011680"/>
            <a:ext cx="2377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66160" y="2011680"/>
            <a:ext cx="2377440" cy="457200"/>
          </a:xfrm>
          <a:prstGeom prst="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39" y="219456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83464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依風險分數由高到低排序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2377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2377440" cy="45720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19456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3464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取前 N 名，最多派給 N 位稽查員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011680"/>
            <a:ext cx="2377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2011680"/>
            <a:ext cx="2377440" cy="457200"/>
          </a:xfrm>
          <a:prstGeom prst="rect">
            <a:avLst/>
          </a:prstGeom>
          <a:solidFill>
            <a:srgbClr val="38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219456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83464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若合格機構少於 N，則輸出全部合格機構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10698480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120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338"/>
                </a:solidFill>
                <a:latin typeface="Microsoft JhengHei"/>
              </a:rPr>
              <a:t>派工公式的感念：</a:t>
            </a:r>
            <a:r>
              <a:rPr sz="1250" b="0">
                <a:solidFill>
                  <a:srgbClr val="5E6973"/>
                </a:solidFill>
                <a:latin typeface="Microsoft JhengHei"/>
              </a:rPr>
              <a:t> 風險覆蓋最大化 = 選擇最高風險、最可能需要查核的機構。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這裡的關鍵不是把風險當犯罪認定，而是把資源投給最值得查核的單位，讓有限的勘查人力更有效。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AWS 雲端技術架構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資料來源 → 雲端處理 → 風險中台 → 雙介面展示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64208"/>
            <a:ext cx="9692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5C9F"/>
                </a:solidFill>
                <a:latin typeface="Microsoft JhengHei"/>
              </a:rPr>
              <a:t>① 資料來源</a:t>
            </a:r>
            <a:r>
              <a:rPr sz="1100" b="0">
                <a:solidFill>
                  <a:srgbClr val="5E6973"/>
                </a:solidFill>
                <a:latin typeface="Microsoft JhengHei"/>
              </a:rPr>
              <a:t>  |  公校決算 / 非營利園財報 / 裁罰 / 評鑑 / 新聞 / PTT / 司法事實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2514600"/>
            <a:ext cx="2011680" cy="777240"/>
          </a:xfrm>
          <a:prstGeom prst="round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651760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Amazon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953512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資料儲存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514600"/>
            <a:ext cx="2103120" cy="77724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2651760"/>
            <a:ext cx="17739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Textract / Tesseract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953512"/>
            <a:ext cx="17739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OCR 抽數字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2514600"/>
            <a:ext cx="2103120" cy="777240"/>
          </a:xfrm>
          <a:prstGeom prst="roundRect">
            <a:avLst/>
          </a:prstGeom>
          <a:solidFill>
            <a:srgbClr val="38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33872" y="2651760"/>
            <a:ext cx="17739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Amazon Bedrock
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953512"/>
            <a:ext cx="17739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生成建議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514600"/>
            <a:ext cx="2011680" cy="777240"/>
          </a:xfrm>
          <a:prstGeom prst="round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2651760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EC2 + IAM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953512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運算主機 / 免金鑰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94960" y="1920240"/>
            <a:ext cx="274320" cy="182880"/>
          </a:xfrm>
          <a:prstGeom prst="rightArrow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7955279" y="1920240"/>
            <a:ext cx="274320" cy="182880"/>
          </a:xfrm>
          <a:prstGeom prst="rightArrow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374903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3977639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③ 鑑識風險中台：forensic.py / risk_score.py / evidence.py / ai_report.py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3776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193792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④ 雙介面：公務後台 8601（稽查官）｜公眾查詢網 8602（家長）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介面與操作流程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兩個入口，兩種權限，卻共用同一套風險中台；每一步顯示都可被解釋、可被追溯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5120640" cy="54864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57276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Microsoft JhengHei"/>
              </a:rPr>
              <a:t>公務後台：8601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28600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26771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風險總覽：全市</a:t>
            </a:r>
            <a:r>
              <a:rPr sz="1150" b="0" dirty="0">
                <a:solidFill>
                  <a:srgbClr val="5E6973"/>
                </a:solidFill>
                <a:latin typeface="Microsoft JhengHei"/>
              </a:rPr>
              <a:t> </a:t>
            </a: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KIP、優先案件、區域熱點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05840" y="292608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290779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風險地圖：紅黃綠標記，供稽查主管快速聚焦高危區域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05840" y="356616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54787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單園工作台：風險分數、證據鏈、AI</a:t>
            </a:r>
            <a:r>
              <a:rPr sz="1150" b="0" dirty="0">
                <a:solidFill>
                  <a:srgbClr val="5E6973"/>
                </a:solidFill>
                <a:latin typeface="Microsoft JhengHei"/>
              </a:rPr>
              <a:t> </a:t>
            </a: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建議與歷史變化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05840" y="420624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派工模組：依風險排序與區域限制分配有限稽查人力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09360" y="146304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1463040"/>
            <a:ext cx="5120640" cy="54864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57276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Microsoft JhengHei"/>
              </a:rPr>
              <a:t>公眾查詢網：8602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28600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226771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輸入地址，查詢鄰近幼兒園資訊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37960" y="292608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290779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查看公開學費、評鑑、裁罰與新聞關注度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537960" y="356616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354787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看地理位置與服務範圍，增強資訊透明與選擇能力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37960" y="420624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418795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973"/>
                </a:solidFill>
                <a:latin typeface="Microsoft JhengHei"/>
              </a:rPr>
              <a:t>資料層過濾風險欄位，確保家長拿不到內部決策分數</a:t>
            </a:r>
            <a:endParaRPr sz="1150" b="0" dirty="0">
              <a:solidFill>
                <a:srgbClr val="5E6973"/>
              </a:solidFill>
              <a:latin typeface="Microsoft Jheng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5C9F"/>
                </a:solidFill>
                <a:latin typeface="Microsoft JhengHei"/>
              </a:rPr>
              <a:t>關鍵設計：同一套中台共用資料，但權限不同。政府看風險與證據，家長看公開資訊與透明度，讓系統兼顧效率與信任。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dirty="0" err="1">
                <a:solidFill>
                  <a:srgbClr val="FFFFFF"/>
                </a:solidFill>
                <a:latin typeface="Microsoft JhengHei"/>
              </a:rPr>
              <a:t>結論：把事後被動稽查，轉成事前主動示警</a:t>
            </a:r>
            <a:endParaRPr sz="26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3920" y="2011680"/>
            <a:ext cx="10424160" cy="777240"/>
          </a:xfrm>
          <a:prstGeom prst="roundRect">
            <a:avLst/>
          </a:prstGeom>
          <a:solidFill>
            <a:srgbClr val="1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9E8F9"/>
                </a:solidFill>
                <a:latin typeface="Microsoft JhengHei"/>
              </a:rPr>
              <a:t>讓政府知道先查誰</a:t>
            </a:r>
            <a:endParaRPr sz="1500" b="1" dirty="0">
              <a:solidFill>
                <a:srgbClr val="D9E8F9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97680" y="214884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EAF2F8"/>
                </a:solidFill>
                <a:latin typeface="Microsoft JhengHei"/>
              </a:rPr>
              <a:t>不再靠人工逐間翻資料，而是以風險排序優化人力投放</a:t>
            </a:r>
            <a:endParaRPr sz="1150" b="0" dirty="0">
              <a:solidFill>
                <a:srgbClr val="EAF2F8"/>
              </a:solidFill>
              <a:latin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10424160" cy="777240"/>
          </a:xfrm>
          <a:prstGeom prst="roundRect">
            <a:avLst/>
          </a:prstGeom>
          <a:solidFill>
            <a:srgbClr val="1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47472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9E8F9"/>
                </a:solidFill>
                <a:latin typeface="Microsoft JhengHei"/>
              </a:rPr>
              <a:t>讓家長知道什麼可查</a:t>
            </a:r>
            <a:endParaRPr sz="1500" b="1" dirty="0">
              <a:solidFill>
                <a:srgbClr val="D9E8F9"/>
              </a:solidFill>
              <a:latin typeface="Microsoft Jheng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0" y="347472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EAF2F8"/>
                </a:solidFill>
                <a:latin typeface="Microsoft JhengHei"/>
              </a:rPr>
              <a:t>公開資訊端增加透明度，降低資訊不對稱</a:t>
            </a:r>
            <a:endParaRPr sz="1150" b="0" dirty="0">
              <a:solidFill>
                <a:srgbClr val="EAF2F8"/>
              </a:solidFill>
              <a:latin typeface="Microsoft Jheng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10424160" cy="777240"/>
          </a:xfrm>
          <a:prstGeom prst="roundRect">
            <a:avLst/>
          </a:prstGeom>
          <a:solidFill>
            <a:srgbClr val="1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8006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9E8F9"/>
                </a:solidFill>
                <a:latin typeface="Microsoft JhengHei"/>
              </a:rPr>
              <a:t>讓風險可被解釋</a:t>
            </a:r>
            <a:endParaRPr sz="1500" b="1" dirty="0">
              <a:solidFill>
                <a:srgbClr val="D9E8F9"/>
              </a:solidFill>
              <a:latin typeface="Microsoft Jheng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0" y="480060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EAF2F8"/>
                </a:solidFill>
                <a:latin typeface="Microsoft JhengHei"/>
              </a:rPr>
              <a:t>白盒分數與證據鏈讓決策能被追問、能被執行</a:t>
            </a:r>
            <a:endParaRPr sz="1150" b="0" dirty="0">
              <a:solidFill>
                <a:srgbClr val="EAF2F8"/>
              </a:solidFill>
              <a:latin typeface="Microsoft Jheng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5943600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E8F9"/>
                </a:solidFill>
                <a:latin typeface="Microsoft JhengHei"/>
              </a:rPr>
              <a:t>小小守護員，不只是做風險評分，而是把幼兒園安全管理從「被動應對」前移到「主動預警」。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642</Words>
  <Application>Microsoft Office PowerPoint</Application>
  <PresentationFormat>寬螢幕</PresentationFormat>
  <Paragraphs>145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芝瑩 林</cp:lastModifiedBy>
  <cp:revision>2</cp:revision>
  <dcterms:created xsi:type="dcterms:W3CDTF">2013-01-27T09:14:16Z</dcterms:created>
  <dcterms:modified xsi:type="dcterms:W3CDTF">2026-09-13T01:29:23Z</dcterms:modified>
  <cp:category/>
</cp:coreProperties>
</file>