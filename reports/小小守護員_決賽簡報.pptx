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822960"/>
            <a:ext cx="5212080" cy="384048"/>
          </a:xfrm>
          <a:prstGeom prst="roundRect">
            <a:avLst/>
          </a:prstGeom>
          <a:solidFill>
            <a:srgbClr val="2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CFE0F0"/>
                </a:solidFill>
                <a:latin typeface="Microsoft JhengHei"/>
              </a:rPr>
              <a:t>2026 新北市 AI 智慧城市黑客松競賽 ｜ 教育局組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Microsoft JhengHei"/>
              </a:rPr>
              <a:t>小小守護員 </a:t>
            </a:r>
            <a:r>
              <a:rPr sz="5200" b="1">
                <a:solidFill>
                  <a:srgbClr val="7FB5DA"/>
                </a:solidFill>
                <a:latin typeface="Microsoft JhengHei"/>
              </a:rPr>
              <a:t>Smart Watchdog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6EEF6"/>
                </a:solidFill>
                <a:latin typeface="Microsoft JhengHei"/>
              </a:rPr>
              <a:t>AI × 鑑識會計，打造教保機構智慧風險預警管理系統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14800"/>
            <a:ext cx="10515600" cy="91440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7E3EF"/>
                </a:solidFill>
                <a:latin typeface="Microsoft JhengHei"/>
              </a:rPr>
              <a:t>別人做幼兒園風險評分，我們做「</a:t>
            </a:r>
            <a:r>
              <a:rPr sz="1500" b="1">
                <a:solidFill>
                  <a:srgbClr val="FFD97A"/>
                </a:solidFill>
                <a:latin typeface="Microsoft JhengHei"/>
              </a:rPr>
              <a:t>AI 稽查官</a:t>
            </a:r>
            <a:r>
              <a:rPr sz="1500" b="0">
                <a:solidFill>
                  <a:srgbClr val="D7E3EF"/>
                </a:solidFill>
                <a:latin typeface="Microsoft JhengHei"/>
              </a:rPr>
              <a:t>」──用審計界抓弊案的鑑識會計算出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7E3EF"/>
                </a:solidFill>
                <a:latin typeface="Microsoft JhengHei"/>
              </a:rPr>
              <a:t>可解釋的白盒子風險分數，再讓生成式 AI 產出稽查建議，讓稽查人力產能放大十倍。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FBEDC"/>
                </a:solidFill>
                <a:latin typeface="Microsoft JhengHei"/>
              </a:rPr>
              <a:t>公務後台（稽查官）</a:t>
            </a:r>
            <a:r>
              <a:rPr sz="1200" b="0">
                <a:solidFill>
                  <a:srgbClr val="7F9CBA"/>
                </a:solidFill>
                <a:latin typeface="Microsoft JhengHei"/>
              </a:rPr>
              <a:t>  :8601        </a:t>
            </a:r>
            <a:r>
              <a:rPr sz="1200" b="1">
                <a:solidFill>
                  <a:srgbClr val="9FBEDC"/>
                </a:solidFill>
                <a:latin typeface="Microsoft JhengHei"/>
              </a:rPr>
              <a:t>公眾查詢網（家長）</a:t>
            </a:r>
            <a:r>
              <a:rPr sz="1200" b="0">
                <a:solidFill>
                  <a:srgbClr val="7F9CBA"/>
                </a:solidFill>
                <a:latin typeface="Microsoft JhengHei"/>
              </a:rPr>
              <a:t>  :8602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E8AA6"/>
                </a:solidFill>
                <a:latin typeface="Microsoft JhengHei"/>
              </a:rPr>
              <a:t>Live on AWS EC2 · systemd 常駐 · GitHub Actions 自動部署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BACKGROUND ｜ 背景與痛點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F2B"/>
                </a:solidFill>
                <a:latin typeface="Microsoft JhengHei"/>
              </a:rPr>
              <a:t>現行監理的四個結構性缺口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Microsoft JhengHei"/>
              </a:rPr>
              <a:t>近年教保機構違法及不當管理事件時有發生，衝擊幼兒受教權益與政府監督公信力。現行機制仰賴定期稽查、書面審核與被動通報，難以事前辨識高風險機構。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66360" cy="16916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82296" cy="16916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1488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C6CED8"/>
                </a:solidFill>
                <a:latin typeface="Microsoft Jheng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85416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F2B"/>
                </a:solidFill>
                <a:latin typeface="Microsoft JhengHei"/>
              </a:rPr>
              <a:t>資料分散、整合困難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24328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基本資料、評鑑、裁罰、收費、決算雖為公開資訊，卻散落各處、格式不一，且未納入社群即時輿情，無法形成完整風險判斷。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5166360" cy="16916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965960"/>
            <a:ext cx="82296" cy="16916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1488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C6CED8"/>
                </a:solidFill>
                <a:latin typeface="Microsoft Jheng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185416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F2B"/>
                </a:solidFill>
                <a:latin typeface="Microsoft JhengHei"/>
              </a:rPr>
              <a:t>財務異常難及早發現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24328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決算與財報雖依法公告，卻缺乏與收費、園所規模的交叉勾稽，數字造假與經費異常往往事後才被發現。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86200"/>
            <a:ext cx="5166360" cy="16916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886200"/>
            <a:ext cx="82296" cy="16916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4069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C6CED8"/>
                </a:solidFill>
                <a:latin typeface="Microsoft Jheng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05656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F2B"/>
                </a:solidFill>
                <a:latin typeface="Microsoft JhengHei"/>
              </a:rPr>
              <a:t>缺乏可量化的預警工具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44568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沒有標準化、可量化的風險評估方法，難以從大量機構中篩出「該優先關注的高風險對象」。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86200"/>
            <a:ext cx="5166360" cy="16916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86200"/>
            <a:ext cx="82296" cy="169164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069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C6CED8"/>
                </a:solidFill>
                <a:latin typeface="Microsoft Jheng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105656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F2B"/>
                </a:solidFill>
                <a:latin typeface="Microsoft JhengHei"/>
              </a:rPr>
              <a:t>人力吃緊、決策缺依據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544568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機構數量龐大，仰賴人工逐一篩選耗時費力，資源配置缺乏數據支撐的決策依據。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SOLUTION ｜ 解決方案說明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F2B"/>
                </a:solidFill>
                <a:latin typeface="Microsoft JhengHei"/>
              </a:rPr>
              <a:t>抓資料 → 算風險 → 出建議：三段式 AI 稽查官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3322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322320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3322320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755648"/>
            <a:ext cx="457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700" b="1">
                <a:solidFill>
                  <a:srgbClr val="1F4E79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00784"/>
            <a:ext cx="240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抓資料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14600"/>
            <a:ext cx="277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整合公開多源資料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" y="3090672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017520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公校決算書（112–114 年度，文字層抽取）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" y="3657600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584448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非營利園掃描財報（Bedrock 多模態 / OCR）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" y="4224528"/>
            <a:ext cx="10972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151376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裁罰、評鑑、收費、社群輿情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9600" y="1554480"/>
            <a:ext cx="3322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19600" y="1554480"/>
            <a:ext cx="3322320" cy="777240"/>
          </a:xfrm>
          <a:prstGeom prst="round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9600" y="2103120"/>
            <a:ext cx="3322320" cy="2286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48200" y="1755648"/>
            <a:ext cx="457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700" b="1">
                <a:solidFill>
                  <a:srgbClr val="2C6E9B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2560" y="1700784"/>
            <a:ext cx="240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算風險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3920" y="2514600"/>
            <a:ext cx="277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鑑識會計白盒子分數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2208" y="3090672"/>
            <a:ext cx="109728" cy="109728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2520" y="3017520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班佛定律、Beneish、Altman、孤立森林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12208" y="3657600"/>
            <a:ext cx="109728" cy="109728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2520" y="3584448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財務比率交叉勾稽、基金餘額勾稽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12208" y="4224528"/>
            <a:ext cx="109728" cy="109728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2520" y="4151376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0–100 可攤開解釋，非黑盒子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1554480"/>
            <a:ext cx="3322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61960" y="1554480"/>
            <a:ext cx="3322320" cy="77724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1960" y="2103120"/>
            <a:ext cx="3322320" cy="2286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90560" y="1755648"/>
            <a:ext cx="457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700" b="1">
                <a:solidFill>
                  <a:srgbClr val="3F8F5B"/>
                </a:solidFill>
                <a:latin typeface="Microsoft Jheng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4920" y="1700784"/>
            <a:ext cx="2407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出建議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6280" y="2514600"/>
            <a:ext cx="277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生成式 AI 稽查輔助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4568" y="3090672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4880" y="3017520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AWS Bedrock（Claude）翻譯數字成白話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54568" y="3657600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4880" y="3584448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指出異常、給具體查核方向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54568" y="4224528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4880" y="4151376"/>
            <a:ext cx="2545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Microsoft JhengHei"/>
              </a:rPr>
              <a:t>責任 AI：風險 ≠ 違法，附證據鏈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029200"/>
            <a:ext cx="335280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02920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" y="5193792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提升風險辨識率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" y="5596128"/>
            <a:ext cx="298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從公開資料篩出高風險機構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04360" y="5029200"/>
            <a:ext cx="335280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04360" y="502920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0392" y="5193792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縮短預警時間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0392" y="5596128"/>
            <a:ext cx="298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事後被動稽查 → 事前主動示警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31480" y="5029200"/>
            <a:ext cx="335280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31480" y="502920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7512" y="5193792"/>
            <a:ext cx="298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降低人力負擔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7512" y="5596128"/>
            <a:ext cx="298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有限人力精準投放最該查的園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CORE ｜ 差異化護城河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F2B"/>
                </a:solidFill>
                <a:latin typeface="Microsoft JhengHei"/>
              </a:rPr>
              <a:t>鑑識會計搬進幼兒園：多層方法，全部可解釋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Microsoft JhengHei"/>
              </a:rPr>
              <a:t>90% 隊伍只做「風險評分」，</a:t>
            </a:r>
            <a:r>
              <a:rPr sz="1300" b="1">
                <a:solidFill>
                  <a:srgbClr val="1F4E79"/>
                </a:solidFill>
                <a:latin typeface="Microsoft JhengHei"/>
              </a:rPr>
              <a:t>我們用審計界抓弊案的鑑識會計方法</a:t>
            </a:r>
            <a:r>
              <a:rPr sz="1300" b="0">
                <a:solidFill>
                  <a:srgbClr val="5B6372"/>
                </a:solidFill>
                <a:latin typeface="Microsoft JhengHei"/>
              </a:rPr>
              <a:t>，每一層都有學術文獻佐證。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148840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班佛定律 Benford's 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679192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逐筆明細金額首位數分布偏離自然律 → 數字造假傾向（MAD + 卡方檢定）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3264408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Nigrini；Durtschi 2004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96596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1965960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Beneish M-Score 改良版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79192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收入與支出成長背離、應計項目異常 → 盈餘操縱（在地化為非營利版）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64408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Beneish 1999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9288" y="196596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1965960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148840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Altman Z'' 困境分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679192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財務困境代理比率 → 對應舞弊三角的「壓力」構面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3264408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Altman 1968 / 2013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4904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749040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3931920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Isolation Forest + SHAP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" y="4462272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非監督式多維異常偵測，SHAP 解釋「為何異常」，維持白盒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5047488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Protiviti 白皮書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98264" y="374904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98264" y="3749040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931920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財務比率交叉勾稽 + IQR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462272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每幼兒單位成本、人事費占比、收支比 vs 同儕群體離群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047488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PCAOB AS 2305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3749040"/>
            <a:ext cx="33649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9288" y="3749040"/>
            <a:ext cx="3364992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3931920"/>
            <a:ext cx="2953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F2B"/>
                </a:solidFill>
                <a:latin typeface="Microsoft JhengHei"/>
              </a:rPr>
              <a:t>基金餘額勾稽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4462272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期末 = 期初 + 本期賸餘；跨年度連續性核對，接不上即紅旗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5047488"/>
            <a:ext cx="2953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2C6E9B"/>
                </a:solidFill>
                <a:latin typeface="Microsoft JhengHei"/>
              </a:rPr>
              <a:t>文獻：</a:t>
            </a:r>
            <a:r>
              <a:rPr sz="900" b="0">
                <a:solidFill>
                  <a:srgbClr val="5B6372"/>
                </a:solidFill>
                <a:latin typeface="Microsoft JhengHei"/>
              </a:rPr>
              <a:t>政府基金會計恆等式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EXPLAINABLE ｜ 白盒子風險分數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F2B"/>
                </a:solidFill>
                <a:latin typeface="Microsoft JhengHei"/>
              </a:rPr>
              <a:t>禁止黑盒子：每一分都攤得開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02920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分項權重（可解釋加權）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167128"/>
            <a:ext cx="128016" cy="4572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12140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財務異常  </a:t>
            </a:r>
            <a:r>
              <a:rPr sz="1500" b="1">
                <a:solidFill>
                  <a:srgbClr val="D64545"/>
                </a:solidFill>
                <a:latin typeface="Microsoft JhengHei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7627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鑑識會計多層方法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679192"/>
            <a:ext cx="128016" cy="45720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63347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裁罰紀錄  </a:t>
            </a:r>
            <a:r>
              <a:rPr sz="1500" b="1">
                <a:solidFill>
                  <a:srgbClr val="E07B2B"/>
                </a:solidFill>
                <a:latin typeface="Microsoft JhengHei"/>
              </a:rPr>
              <a:t>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883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事由分類 + 嚴重度 / 破窗效應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191256"/>
            <a:ext cx="128016" cy="4572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145536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評鑑結果  </a:t>
            </a:r>
            <a:r>
              <a:rPr sz="1500" b="1">
                <a:solidFill>
                  <a:srgbClr val="E0A93B"/>
                </a:solidFill>
                <a:latin typeface="Microsoft JhengHei"/>
              </a:rPr>
              <a:t>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200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優 0 / 良 20 / 乙 40 / 待改進 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0156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Microsoft JhengHei"/>
              </a:rPr>
              <a:t>＊輿情分析已實作並於介面呈現；總分計分待真實爬蟲全量接入後啟用（誠實揭露）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463040"/>
            <a:ext cx="521208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783080"/>
            <a:ext cx="5212080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536192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判定範例：新北市立林口幼兒園 52.6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2B"/>
                </a:solidFill>
                <a:latin typeface="Microsoft JhengHei"/>
              </a:rPr>
              <a:t>財務異常  38.0 × 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1488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4545"/>
                </a:solidFill>
                <a:latin typeface="Microsoft JhengHei"/>
              </a:rPr>
              <a:t>= 19.0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2B"/>
                </a:solidFill>
                <a:latin typeface="Microsoft JhengHei"/>
              </a:rPr>
              <a:t>裁罰(2次) 80  × 0.34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060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7B2B"/>
                </a:solidFill>
                <a:latin typeface="Microsoft JhengHei"/>
              </a:rPr>
              <a:t>= 27.2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F2B"/>
                </a:solidFill>
                <a:latin typeface="Microsoft JhengHei"/>
              </a:rPr>
              <a:t>評鑑(乙)  40  × 0.16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0632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A93B"/>
                </a:solidFill>
                <a:latin typeface="Microsoft JhengHei"/>
              </a:rPr>
              <a:t>=  6.4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520440"/>
            <a:ext cx="457200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6301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總風險分（相對分級：高）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6301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D64545"/>
                </a:solidFill>
                <a:latin typeface="Microsoft JhengHei"/>
              </a:rPr>
              <a:t>52.6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977639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F2B"/>
                </a:solidFill>
                <a:latin typeface="Microsoft JhengHei"/>
              </a:rPr>
              <a:t>模型鑑別力驗證（以官方裁罰為標籤，python -m src.validate 即時產生）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389120"/>
            <a:ext cx="248031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389120"/>
            <a:ext cx="248031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572000"/>
            <a:ext cx="24803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Microsoft JhengHei"/>
              </a:rPr>
              <a:t>AUC-ROC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92040"/>
            <a:ext cx="24803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0.906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76672"/>
            <a:ext cx="22974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辨識力優異 (&gt;0.9)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86150" y="4389120"/>
            <a:ext cx="248031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86150" y="4389120"/>
            <a:ext cx="248031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86150" y="4572000"/>
            <a:ext cx="24803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Microsoft JhengHei"/>
              </a:rPr>
              <a:t>Recall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6150" y="4892040"/>
            <a:ext cx="24803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77590" y="5376672"/>
            <a:ext cx="22974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被裁罰園零漏抓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5060" y="4389120"/>
            <a:ext cx="248031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5060" y="4389120"/>
            <a:ext cx="248031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5060" y="4572000"/>
            <a:ext cx="24803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Microsoft JhengHei"/>
              </a:rPr>
              <a:t>相關係數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5060" y="4892040"/>
            <a:ext cx="24803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0.733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5376672"/>
            <a:ext cx="22974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風險分與裁罰高度正相關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03970" y="4389120"/>
            <a:ext cx="2480310" cy="13716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03970" y="4389120"/>
            <a:ext cx="2480310" cy="6400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03970" y="4572000"/>
            <a:ext cx="248031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Microsoft JhengHei"/>
              </a:rPr>
              <a:t>權重敏感度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03970" y="4892040"/>
            <a:ext cx="24803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Microsoft JhengHei"/>
              </a:rPr>
              <a:t>ρ≥0.97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95410" y="5376672"/>
            <a:ext cx="229743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Microsoft JhengHei"/>
              </a:rPr>
              <a:t>改權重排名幾乎不變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DATA ｜ 數據及資料運用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F2B"/>
                </a:solidFill>
                <a:latin typeface="Microsoft JhengHei"/>
              </a:rPr>
              <a:t>真實多源整合，誠實揭露抽樣深度與全市涵蓋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24597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82296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6420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Microsoft JhengHei"/>
              </a:rPr>
              <a:t>1,114</a:t>
            </a:r>
            <a:r>
              <a:rPr sz="1200" b="1">
                <a:solidFill>
                  <a:srgbClr val="5B6372"/>
                </a:solidFill>
                <a:latin typeface="Microsoft JhengHei"/>
              </a:rPr>
              <a:t>  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全市立案機構納管基本資料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463040"/>
            <a:ext cx="24597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1463040"/>
            <a:ext cx="82296" cy="137160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166420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F8F5B"/>
                </a:solidFill>
                <a:latin typeface="Microsoft JhengHei"/>
              </a:rPr>
              <a:t>61</a:t>
            </a:r>
            <a:r>
              <a:rPr sz="1200" b="1">
                <a:solidFill>
                  <a:srgbClr val="5B6372"/>
                </a:solidFill>
                <a:latin typeface="Microsoft JhengHei"/>
              </a:rPr>
              <a:t>  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304288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已完成鑑識會計風險評分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463040"/>
            <a:ext cx="24597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463040"/>
            <a:ext cx="82296" cy="1371600"/>
          </a:xfrm>
          <a:prstGeom prst="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66420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07B2B"/>
                </a:solidFill>
                <a:latin typeface="Microsoft JhengHei"/>
              </a:rPr>
              <a:t>2,838</a:t>
            </a:r>
            <a:r>
              <a:rPr sz="1200" b="1">
                <a:solidFill>
                  <a:srgbClr val="5B6372"/>
                </a:solidFill>
                <a:latin typeface="Microsoft JhengHei"/>
              </a:rPr>
              <a:t>  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304288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真實爬取裁罰紀錄快照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463040"/>
            <a:ext cx="24597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463040"/>
            <a:ext cx="82296" cy="13716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1664208"/>
            <a:ext cx="2093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C6E9B"/>
                </a:solidFill>
                <a:latin typeface="Microsoft JhengHei"/>
              </a:rPr>
              <a:t>7,688</a:t>
            </a:r>
            <a:r>
              <a:rPr sz="1200" b="1">
                <a:solidFill>
                  <a:srgbClr val="5B6372"/>
                </a:solidFill>
                <a:latin typeface="Microsoft JhengHei"/>
              </a:rPr>
              <a:t>  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304288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全國教保機構名冊快照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0632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Microsoft JhengHei"/>
              </a:rPr>
              <a:t>資料來源矩陣（誠實清冊，src/data_source_matrix.py）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74720"/>
            <a:ext cx="10607040" cy="384048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47472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資料集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474720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主管機關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74720"/>
            <a:ext cx="1280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格式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47472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狀態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47472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用途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858768"/>
            <a:ext cx="10607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85876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公校決算書 112–114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85876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新北市教育局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58768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PDF 文字層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4968" y="3950208"/>
            <a:ext cx="914400" cy="27432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</a:rPr>
              <a:t>已確認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858768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財務鑑識黃金資料源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315968"/>
            <a:ext cx="106070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31596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非營利園財報 110–113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31596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新北市教育局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315968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掃描影像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44968" y="4407408"/>
            <a:ext cx="914400" cy="27432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</a:rPr>
              <a:t>已確認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315968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Bedrock 多模態 / OCR 抽取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773168"/>
            <a:ext cx="10607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77316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裁罰紀錄（爬取快照）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77316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全國教保資訊網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773168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JSON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44968" y="4864608"/>
            <a:ext cx="914400" cy="27432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</a:rPr>
              <a:t>已確認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773168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2,838 筆佐證圖層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230368"/>
            <a:ext cx="106070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23036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官方裁罰/評鑑/收費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523036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全國教保資訊網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230368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未確認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44968" y="5321808"/>
            <a:ext cx="914400" cy="274320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</a:rPr>
              <a:t>未確認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230368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接入即套用同流程，架構可規模化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687568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F2B"/>
                </a:solidFill>
                <a:latin typeface="Microsoft JhengHei"/>
              </a:rPr>
              <a:t>網路輿情（NLP 樣本）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568756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公開新聞/社群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5687568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Microsoft JhengHei"/>
              </a:rPr>
              <a:t>未確認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44968" y="5779008"/>
            <a:ext cx="914400" cy="274320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JhengHei"/>
              </a:rPr>
              <a:t>未確認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5687568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Microsoft JhengHei"/>
              </a:rPr>
              <a:t>小樣本示範，暫不計分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3474720"/>
            <a:ext cx="10607040" cy="2670048"/>
          </a:xfrm>
          <a:prstGeom prst="rect">
            <a:avLst/>
          </a:prstGeom>
          <a:noFill/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ARCHITECTURE ｜ AWS 雲端技術架構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F2B"/>
                </a:solidFill>
                <a:latin typeface="Microsoft JhengHei"/>
              </a:rPr>
              <a:t>資料 → 鑑識引擎 → 雙介面，AWS 全託管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05156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904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Microsoft JhengHei"/>
              </a:rPr>
              <a:t>① 資料來源 DATA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783080"/>
            <a:ext cx="233172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892808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公校決算書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1965960"/>
            <a:ext cx="21854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(PDF 文字層)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9352" y="1783080"/>
            <a:ext cx="233172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2" y="1892808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非營利園財報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504" y="1965960"/>
            <a:ext cx="21854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(掃描影像)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1783080"/>
            <a:ext cx="233172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1892808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裁罰/評鑑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1965960"/>
            <a:ext cx="21854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(全國教保網)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783080"/>
            <a:ext cx="2331720" cy="56692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1892808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網路輿情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1965960"/>
            <a:ext cx="21854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(新聞/社群)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670048"/>
            <a:ext cx="10881360" cy="1417320"/>
          </a:xfrm>
          <a:prstGeom prst="roundRect">
            <a:avLst/>
          </a:prstGeom>
          <a:solidFill>
            <a:srgbClr val="FCF3E6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670048"/>
            <a:ext cx="82296" cy="1417320"/>
          </a:xfrm>
          <a:prstGeom prst="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743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C912D"/>
                </a:solidFill>
                <a:latin typeface="Microsoft JhengHei"/>
              </a:rPr>
              <a:t>② AWS 雲端處理層 PROCESSING (boto3)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3054096"/>
            <a:ext cx="2331720" cy="868680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163824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Amazon 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538728"/>
            <a:ext cx="21854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原始資料 /
衍生資料儲存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9352" y="3054096"/>
            <a:ext cx="2331720" cy="868680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0792" y="3163824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AWS Textract
/ Tesseract OCR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538728"/>
            <a:ext cx="21854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掃描財報
文字抽取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3054096"/>
            <a:ext cx="2331720" cy="868680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3163824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Amazon Bedrock
Claude Sonnet 4.5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3538728"/>
            <a:ext cx="21854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多模態抽數字
+ 生成稽查建議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51976" y="3054096"/>
            <a:ext cx="2331720" cy="868680"/>
          </a:xfrm>
          <a:prstGeom prst="roundRect">
            <a:avLst/>
          </a:prstGeom>
          <a:solidFill>
            <a:srgbClr val="EC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43416" y="3163824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EC2 + IAM Role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3538728"/>
            <a:ext cx="21854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臨時憑證
免金鑰外洩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88536"/>
            <a:ext cx="10881360" cy="868680"/>
          </a:xfrm>
          <a:prstGeom prst="roundRect">
            <a:avLst/>
          </a:prstGeom>
          <a:solidFill>
            <a:srgbClr val="EAEEF3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288536"/>
            <a:ext cx="82296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3616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③ 鑑識風險中台 CORE ENGINE (src/)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63040" y="4581144"/>
            <a:ext cx="182880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0" y="4690872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鑑識會計 forensic.py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9000" y="4581144"/>
            <a:ext cx="182880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4690872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白盒評分 risk_score.py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4960" y="4581144"/>
            <a:ext cx="182880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4690872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證據鏈 evidence.py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0920" y="4581144"/>
            <a:ext cx="182880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4690872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AI 報告 ai_report.py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4581144"/>
            <a:ext cx="182880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4690872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地理編碼 geocode.py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358384"/>
            <a:ext cx="5303520" cy="777240"/>
          </a:xfrm>
          <a:prstGeom prst="round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46811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公務後台 :8601（稽查官）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5751576"/>
            <a:ext cx="51572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風險排名 · 雷達圖 · 案件流 · 派工 · AI 建議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358384"/>
            <a:ext cx="5303520" cy="77724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546811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公眾查詢網 :8602（家長）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1072" y="5751576"/>
            <a:ext cx="51572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Microsoft JhengHei"/>
              </a:rPr>
              <a:t>找幼兒園 · 距離 · 收費 · 公開評鑑 · 輿情觀測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1904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A1F2B"/>
                </a:solidFill>
                <a:latin typeface="Microsoft JhengHei"/>
              </a:rPr>
              <a:t>部署：</a:t>
            </a:r>
            <a:r>
              <a:rPr sz="1000" b="0">
                <a:solidFill>
                  <a:srgbClr val="5B6372"/>
                </a:solidFill>
                <a:latin typeface="Microsoft JhengHei"/>
              </a:rPr>
              <a:t>GitHub Actions push→main 自動部署到 EC2 self-hosted runner，systemd 常駐兩服務並健康檢查（curl 8601/8602）· 金鑰一律 os.environ，check_secrets.py 上傳前掃描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UI / FLOW ｜ 介面與操作流程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F2B"/>
                </a:solidFill>
                <a:latin typeface="Microsoft JhengHei"/>
              </a:rPr>
              <a:t>公務後台 :8601 — 稽查官的作戰工作台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使用者：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教育局 / 稽查員　｜　</a:t>
            </a:r>
            <a:r>
              <a:rPr sz="1200" b="1">
                <a:solidFill>
                  <a:srgbClr val="1A1F2B"/>
                </a:solidFill>
                <a:latin typeface="Microsoft JhengHei"/>
              </a:rPr>
              <a:t>動線：全局監控 → 下鑽單園 → 下決定 → 派工結案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36499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94559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929383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1  風險總覽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532887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KPI 帶 + 完整排名表 + 各行政區風險組成堆疊圖，一眼看出該優先查誰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874519"/>
            <a:ext cx="336499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98264" y="1874519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2194559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929383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2  風險地圖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32887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Leaflet + OpenStreetMap，紅/黃/綠標記，排稽查路線精準投放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9288" y="1874519"/>
            <a:ext cx="336499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9288" y="1874519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2194559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1929383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3  單園工作台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532887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雷達圖攤開四分項 + 證據鏈下鑽（分數→特徵→原始決算→PDF 來源）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30751"/>
            <a:ext cx="336499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730751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50791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785615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4  AI 稽查建議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4389119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Bedrock 產出白話建議：這間該查什麼憑證，責任 AI 附來源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98264" y="3730751"/>
            <a:ext cx="336499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98264" y="3730751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98264" y="4050791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785615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5  案件狀態流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389119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待研判 → 建議派查 → 調查中 → 結案，附時間戳與稽核軌跡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3730751"/>
            <a:ext cx="336499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19288" y="3730751"/>
            <a:ext cx="3364992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9288" y="4050791"/>
            <a:ext cx="3364992" cy="182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3785615"/>
            <a:ext cx="29992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6  派工台 / 資料整合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4389119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排除已稽查、資料來源矩陣、模型鑑別力驗證、系統健康檢查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440680"/>
            <a:ext cx="1737360" cy="457200"/>
          </a:xfrm>
          <a:prstGeom prst="round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待研判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544068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Microsoft JhengHe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70632" y="5440680"/>
            <a:ext cx="1737360" cy="457200"/>
          </a:xfrm>
          <a:prstGeom prst="roundRect">
            <a:avLst/>
          </a:prstGeom>
          <a:solidFill>
            <a:srgbClr val="E07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建議派查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7992" y="544068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Microsoft JhengHe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64024" y="5440680"/>
            <a:ext cx="173736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調查中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1384" y="544068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Microsoft JhengHe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57416" y="5440680"/>
            <a:ext cx="1737360" cy="457200"/>
          </a:xfrm>
          <a:prstGeom prst="round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結案·屬實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94776" y="544068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6372"/>
                </a:solidFill>
                <a:latin typeface="Microsoft JhengHei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0808" y="5440680"/>
            <a:ext cx="1737360" cy="45720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結案·不成立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C6E9B"/>
                </a:solidFill>
                <a:latin typeface="Microsoft JhengHei"/>
              </a:rPr>
              <a:t>UI / FLOW ｜ 介面與操作流程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F2B"/>
                </a:solidFill>
                <a:latin typeface="Microsoft JhengHei"/>
              </a:rPr>
              <a:t>公眾查詢網 :8602 — 家長「安心找幼兒園」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33856"/>
            <a:ext cx="10607040" cy="127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5DBE3"/>
                </a:solidFill>
                <a:latin typeface="Microsoft Jheng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F8F5B"/>
                </a:solidFill>
                <a:latin typeface="Microsoft JhengHei"/>
              </a:rPr>
              <a:t>使用者：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一般民眾 / 家長（無需登入）　｜　</a:t>
            </a:r>
            <a:r>
              <a:rPr sz="1200" b="1">
                <a:solidFill>
                  <a:srgbClr val="1A1F2B"/>
                </a:solidFill>
                <a:latin typeface="Microsoft JhengHei"/>
              </a:rPr>
              <a:t>刻意與後台分離：</a:t>
            </a:r>
            <a:r>
              <a:rPr sz="1200" b="0">
                <a:solidFill>
                  <a:srgbClr val="5B6372"/>
                </a:solidFill>
                <a:latin typeface="Microsoft JhengHei"/>
              </a:rPr>
              <a:t>資料層移除所有風險分數欄位，家長端根本拿不到 risk_total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1226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距離近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14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輸入地址 → Nominatim 定位 → 找出鄰近幼兒園、地圖標點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5468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15468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0098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看得懂學費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033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公開收費揭露，透明比較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43400"/>
            <a:ext cx="82296" cy="105156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8970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Microsoft JhengHei"/>
              </a:rPr>
              <a:t>安全放心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Microsoft JhengHei"/>
              </a:rPr>
              <a:t>公開評鑑、裁罰狀態、輿情觀測（平靜期/有討論/值得留意）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965960"/>
            <a:ext cx="5120640" cy="3429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965960"/>
            <a:ext cx="5120640" cy="502920"/>
          </a:xfrm>
          <a:prstGeom prst="round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286000"/>
            <a:ext cx="5120640" cy="182880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設計原則：溫暖、誠實、不恐慌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6248" y="2770632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697480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不使用後台「高/中/低風險」字眼，改用描述性「近期關注度」並附依據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6248" y="3300984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227832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地圖用柔和暖色階（非警報紅），避免造成家長不必要恐慌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6248" y="3831336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758184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輿情觀測即時爬公開新聞 RSS，每則附原文連結與發布時間，可追溯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6248" y="4361688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288536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地址定位用 OpenStreetMap Nominatim（免金鑰，不用 Google Maps）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4892040"/>
            <a:ext cx="109728" cy="109728"/>
          </a:xfrm>
          <a:prstGeom prst="rect">
            <a:avLst/>
          </a:prstGeom>
          <a:solidFill>
            <a:srgbClr val="3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81888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F2B"/>
                </a:solidFill>
                <a:latin typeface="Microsoft JhengHei"/>
              </a:rPr>
              <a:t>資料層 authorize_dataframe(df, ROLE_PARENT) 二次防禦，權限在資料層擋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FBEDC"/>
                </a:solidFill>
                <a:latin typeface="Microsoft JhengHei"/>
              </a:rPr>
              <a:t>為什麼是我們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鑑識會計護城河 × 白盒可解釋 × 誠實可規模化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5120640" cy="141732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82296" cy="1417320"/>
          </a:xfrm>
          <a:prstGeom prst="rect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97A"/>
                </a:solidFill>
                <a:latin typeface="Microsoft JhengHei"/>
              </a:rPr>
              <a:t>護城河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0779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DE7F1"/>
                </a:solidFill>
                <a:latin typeface="Microsoft JhengHei"/>
              </a:rPr>
              <a:t>鑑識會計多層方法，每層有文獻佐證。90% 隊伍不會講「鑑識會計」四個字。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86000"/>
            <a:ext cx="5120640" cy="141732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286000"/>
            <a:ext cx="82296" cy="1417320"/>
          </a:xfrm>
          <a:prstGeom prst="rect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97A"/>
                </a:solidFill>
                <a:latin typeface="Microsoft JhengHei"/>
              </a:rPr>
              <a:t>政府敢用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0779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DE7F1"/>
                </a:solidFill>
                <a:latin typeface="Microsoft JhengHei"/>
              </a:rPr>
              <a:t>白盒子分數可攤開拆解，責任 AI 全程「風險 ≠ 違法」附證據鏈，禁得起追問。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31920"/>
            <a:ext cx="5120640" cy="141732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931920"/>
            <a:ext cx="82296" cy="1417320"/>
          </a:xfrm>
          <a:prstGeom prst="rect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97A"/>
                </a:solidFill>
                <a:latin typeface="Microsoft JhengHei"/>
              </a:rPr>
              <a:t>真的能跑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5371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DE7F1"/>
                </a:solidFill>
                <a:latin typeface="Microsoft JhengHei"/>
              </a:rPr>
              <a:t>雙 app live on AWS EC2、61 間實測評分、AUC 0.906，Demo 當場可操作。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31920"/>
            <a:ext cx="5120640" cy="1417320"/>
          </a:xfrm>
          <a:prstGeom prst="roundRect">
            <a:avLst/>
          </a:prstGeom>
          <a:solidFill>
            <a:srgbClr val="244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82296" cy="1417320"/>
          </a:xfrm>
          <a:prstGeom prst="rect">
            <a:avLst/>
          </a:prstGeom>
          <a:solidFill>
            <a:srgbClr val="FFD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D97A"/>
                </a:solidFill>
                <a:latin typeface="Microsoft JhengHei"/>
              </a:rPr>
              <a:t>誠實可擴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5371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DE7F1"/>
                </a:solidFill>
                <a:latin typeface="Microsoft JhengHei"/>
              </a:rPr>
              <a:t>抽樣深度 61 間 + 全市涵蓋 1,114 間，資料來源三態標示，架構可規模化至全市。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小小守護員 Smart Watchdog</a:t>
            </a:r>
            <a:r>
              <a:rPr sz="1400" b="0">
                <a:solidFill>
                  <a:srgbClr val="B9CADD"/>
                </a:solidFill>
                <a:latin typeface="Microsoft JhengHei"/>
              </a:rPr>
              <a:t>　｜　讓事後被動稽查，提前為事前主動示警。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